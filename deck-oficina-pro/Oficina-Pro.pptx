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perguntando: 'quem aqui já perdeu um orçamento no WhatsApp?'. Não fale de software nos primeiros 3 minutos. Fale do caderno e da nota.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é falta de trabalho: é falta de visibilidade. A dor é margem, não faturamento.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VERIFICAR a data de 01/09/2026 no portal gov.br/nfse antes de apresentar. A obrigatoriedade do MEI (set/2023) está confirmada na fonte oficial.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slide da venda. Pausar depois de 'a multa é nossa'. Nenhum concorrente pode repetir essa frase: os baratos não emitem nota, e os caros não confiam no próprio fiscal.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Demonstrar ao vivo. O 'aha' é o aceite do orçamento com carimbo de hora — acaba a discussão no balcão.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catálogo eletrônico é padrão do setor via Sindirepa. Sem ele, o orçamento vira digitação e o mecânico volta pro caderno.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o dado é do cliente, não nosso. Consentimento explícito por LGPD desde o dia um. Nunca prometer compartilhamento entre oficinas sem autorização.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o cliente perguntar de Ultracar / oficina.app: os baratos não emitem nota fiscal; os caros custam 3x e levam semanas para implantar. Não ataque ninguém pelo nome.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apertarem no preço: os sistemas de R$ 80 a R$ 100 não emitem nota fiscal. Os que emitem custam de R$ 324 a R$ 599. Nós somos o único que emite nesta faixa — e o único que garante a multa.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pedindo o compromisso menor possível: uma oficina, uma semana. Não peça contrato — peça o piloto.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754880" cy="4754880"/>
          </a:xfrm>
          <a:prstGeom prst="ellipse">
            <a:avLst/>
          </a:prstGeom>
          <a:solidFill>
            <a:srgbClr val="F26522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3108960"/>
            <a:ext cx="3108960" cy="3108960"/>
          </a:xfrm>
          <a:prstGeom prst="ellipse">
            <a:avLst/>
          </a:prstGeom>
          <a:solidFill>
            <a:srgbClr val="F26522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85800"/>
            <a:ext cx="566928" cy="56692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298" y="765170"/>
            <a:ext cx="408188" cy="4081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71323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OFICINA PRO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48640" y="1783080"/>
            <a:ext cx="6035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7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Sua oficina em ordem.</a:t>
            </a:r>
            <a:endParaRPr lang="en-US" sz="4400" dirty="0"/>
          </a:p>
          <a:p>
            <a:pPr indent="0" marL="0">
              <a:lnSpc>
                <a:spcPts val="47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Sua nota em dia.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48640" y="356616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9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que o mecânico usa com a mão suja — e que garante a sua nota fiscal. Em setembro, emitir NFS-e deixa de ser escolha.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45902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para donos de oficina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Sua oficina fatura bem. E ninguém sabe quanto sobra.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é o melhor mecânico da casa — e também o orçamentista, o comprador de peças, o cobrador e o financeiro. A informação mora em quatro lugares, e nenhum conversa com o outro.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0" y="1243584"/>
            <a:ext cx="3108960" cy="768096"/>
          </a:xfrm>
          <a:prstGeom prst="roundRect">
            <a:avLst>
              <a:gd name="adj" fmla="val 9524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50992" y="1389888"/>
            <a:ext cx="384048" cy="38404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4759" y="1443655"/>
            <a:ext cx="276515" cy="27651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44768" y="135331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Caderno e planilha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144768" y="158191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Placa anotada à mão, status na cabeça do mecânico, valor somado na calculadora.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486400" y="2066544"/>
            <a:ext cx="3108960" cy="768096"/>
          </a:xfrm>
          <a:prstGeom prst="roundRect">
            <a:avLst>
              <a:gd name="adj" fmla="val 9524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50992" y="2212848"/>
            <a:ext cx="384048" cy="38404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4759" y="2266615"/>
            <a:ext cx="276515" cy="27651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144768" y="217627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 perdido no WhatsApp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6144768" y="240487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verbal, sem registro. Depois vira discussão no balcão.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5486400" y="2889504"/>
            <a:ext cx="3108960" cy="768096"/>
          </a:xfrm>
          <a:prstGeom prst="roundRect">
            <a:avLst>
              <a:gd name="adj" fmla="val 9524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650992" y="3035808"/>
            <a:ext cx="384048" cy="38404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4759" y="3089575"/>
            <a:ext cx="276515" cy="27651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44768" y="299923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que some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144768" y="32278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estoque real, você compra duas vezes ou o carro fica parado na baia.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486400" y="3712464"/>
            <a:ext cx="3108960" cy="768096"/>
          </a:xfrm>
          <a:prstGeom prst="roundRect">
            <a:avLst>
              <a:gd name="adj" fmla="val 9524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650992" y="3858768"/>
            <a:ext cx="384048" cy="38404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4759" y="3912535"/>
            <a:ext cx="276515" cy="27651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144768" y="382219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no escuro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6144768" y="405079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 R$ 80 mil, tira R$ 4 mil. Ninguém sabe qual serviço dá prejuízo.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548640" y="2578608"/>
            <a:ext cx="4709160" cy="1481328"/>
          </a:xfrm>
          <a:prstGeom prst="roundRect">
            <a:avLst>
              <a:gd name="adj" fmla="val 6173"/>
            </a:avLst>
          </a:prstGeom>
          <a:solidFill>
            <a:srgbClr val="16191D"/>
          </a:solidFill>
          <a:ln/>
        </p:spPr>
      </p:sp>
      <p:sp>
        <p:nvSpPr>
          <p:cNvPr id="26" name="Text 20"/>
          <p:cNvSpPr/>
          <p:nvPr/>
        </p:nvSpPr>
        <p:spPr>
          <a:xfrm>
            <a:off x="868680" y="2761488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265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4h</a:t>
            </a:r>
            <a:endParaRPr lang="en-US" sz="5200" dirty="0"/>
          </a:p>
        </p:txBody>
      </p:sp>
      <p:sp>
        <p:nvSpPr>
          <p:cNvPr id="27" name="Text 21"/>
          <p:cNvSpPr/>
          <p:nvPr/>
        </p:nvSpPr>
        <p:spPr>
          <a:xfrm>
            <a:off x="2286000" y="278892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6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semana somando número em planilha. É trabalho que não entra na conta de nenhuma ordem de serviço.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48640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 Pro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7863840" y="47091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 AGORA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bloquinho de nota acabou.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65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1º de setembro</a:t>
            </a:r>
            <a:pPr indent="0" marL="0">
              <a:buNone/>
            </a:pPr>
            <a:r>
              <a:rPr lang="en-US" sz="2200" dirty="0">
                <a:solidFill>
                  <a:srgbClr val="8B959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 de 2026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B9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NFS-e de padrão nacional passa a ser obrigatória para as ME e EPP do Simples que prestam serviço — e só pode ser emitida pelo Emissor Nacional. Oficina é exatamente isso: serviço com ISS e peça com ICMS, na mesma nota.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577840" y="1371600"/>
            <a:ext cx="3017520" cy="969264"/>
          </a:xfrm>
          <a:prstGeom prst="roundRect">
            <a:avLst>
              <a:gd name="adj" fmla="val 7547"/>
            </a:avLst>
          </a:prstGeom>
          <a:solidFill>
            <a:srgbClr val="242A31"/>
          </a:solidFill>
          <a:ln/>
        </p:spPr>
      </p:sp>
      <p:sp>
        <p:nvSpPr>
          <p:cNvPr id="7" name="Shape 5"/>
          <p:cNvSpPr/>
          <p:nvPr/>
        </p:nvSpPr>
        <p:spPr>
          <a:xfrm>
            <a:off x="5760720" y="1508760"/>
            <a:ext cx="384048" cy="38404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4487" y="1562527"/>
            <a:ext cx="276515" cy="27651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54496" y="14904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 já está obrigado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254496" y="1737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A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setembro de 2023, todo MEI prestador de serviço emite NFS-e nacional.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577840" y="2450592"/>
            <a:ext cx="3017520" cy="969264"/>
          </a:xfrm>
          <a:prstGeom prst="roundRect">
            <a:avLst>
              <a:gd name="adj" fmla="val 7547"/>
            </a:avLst>
          </a:prstGeom>
          <a:solidFill>
            <a:srgbClr val="242A31"/>
          </a:solidFill>
          <a:ln/>
        </p:spPr>
      </p:sp>
      <p:sp>
        <p:nvSpPr>
          <p:cNvPr id="12" name="Shape 9"/>
          <p:cNvSpPr/>
          <p:nvPr/>
        </p:nvSpPr>
        <p:spPr>
          <a:xfrm>
            <a:off x="5760720" y="2587752"/>
            <a:ext cx="384048" cy="38404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4487" y="2641519"/>
            <a:ext cx="276515" cy="27651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254496" y="256946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 acima de 50 mil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254496" y="28163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A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 a operar exclusivamente no padrão nacional. Sistema municipal antigo sai do ar.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5577840" y="3529584"/>
            <a:ext cx="3017520" cy="969264"/>
          </a:xfrm>
          <a:prstGeom prst="roundRect">
            <a:avLst>
              <a:gd name="adj" fmla="val 7547"/>
            </a:avLst>
          </a:prstGeom>
          <a:solidFill>
            <a:srgbClr val="242A31"/>
          </a:solidFill>
          <a:ln/>
        </p:spPr>
      </p:sp>
      <p:sp>
        <p:nvSpPr>
          <p:cNvPr id="17" name="Shape 13"/>
          <p:cNvSpPr/>
          <p:nvPr/>
        </p:nvSpPr>
        <p:spPr>
          <a:xfrm>
            <a:off x="5760720" y="3666744"/>
            <a:ext cx="384048" cy="38404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4487" y="3720511"/>
            <a:ext cx="276515" cy="27651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54496" y="364845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Multa é do dono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254496" y="389534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A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do contador, não do software. De quem assina o CNPJ da oficina.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548640" y="404164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já emite nota direito não muda nada.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não emite, para.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548640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 Pro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7863840" y="47091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6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188720"/>
            <a:ext cx="4206240" cy="420624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291840"/>
            <a:ext cx="3291840" cy="3291840"/>
          </a:xfrm>
          <a:prstGeom prst="ellipse">
            <a:avLst/>
          </a:prstGeom>
          <a:solidFill>
            <a:srgbClr val="16191D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FE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NOSSA PROMESSA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566928" cy="566928"/>
          </a:xfrm>
          <a:prstGeom prst="ellipse">
            <a:avLst/>
          </a:prstGeom>
          <a:solidFill>
            <a:srgbClr val="16191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010" y="1039490"/>
            <a:ext cx="408188" cy="4081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755648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 a nota não sair,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multa é nossa.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3346704"/>
            <a:ext cx="5760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FF0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estamos vendendo um botão de emitir nota. Estamos assumindo o risco de ele funcionar. Se o Oficina Pro falhar e a sua oficina for multada por isso, nós pagamos a multa — está no contrato, não no marketing.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44439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Pergunte isso ao seu sistema atual.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oficina inteira em uma tela.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 a placa, fotografa o problema, manda o orçamento no WhatsApp e recebe o aceite com um clique. O estoque, o caixa e a nota se resolvem sozinhos — porque são consequência da ordem de serviço, não trabalho a mais.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935224"/>
            <a:ext cx="18288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9077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digitação: a placa puxa marca, modelo e ano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319272"/>
            <a:ext cx="182880" cy="182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3291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do orçamento registrada, com data e hora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703320"/>
            <a:ext cx="182880" cy="1828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8680" y="3675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sem internet e sincroniza depois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087368"/>
            <a:ext cx="182880" cy="1828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68680" y="40599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 no primeiro dia, sem consultor e sem treinamento</a:t>
            </a:r>
            <a:endParaRPr lang="en-US" sz="1100" dirty="0"/>
          </a:p>
        </p:txBody>
      </p:sp>
      <p:sp>
        <p:nvSpPr>
          <p:cNvPr id="13" name="Shape 7"/>
          <p:cNvSpPr/>
          <p:nvPr/>
        </p:nvSpPr>
        <p:spPr>
          <a:xfrm>
            <a:off x="4892040" y="1298448"/>
            <a:ext cx="3703320" cy="3200400"/>
          </a:xfrm>
          <a:prstGeom prst="roundRect">
            <a:avLst>
              <a:gd name="adj" fmla="val 3429"/>
            </a:avLst>
          </a:prstGeom>
          <a:solidFill>
            <a:srgbClr val="16191D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8"/>
          <p:cNvSpPr/>
          <p:nvPr/>
        </p:nvSpPr>
        <p:spPr>
          <a:xfrm>
            <a:off x="5120640" y="14813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#1042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7059168" y="1490472"/>
            <a:ext cx="1298448" cy="265176"/>
          </a:xfrm>
          <a:prstGeom prst="roundRect">
            <a:avLst>
              <a:gd name="adj" fmla="val 48276"/>
            </a:avLst>
          </a:prstGeom>
          <a:solidFill>
            <a:srgbClr val="F26522"/>
          </a:solidFill>
          <a:ln/>
        </p:spPr>
      </p:sp>
      <p:sp>
        <p:nvSpPr>
          <p:cNvPr id="16" name="Text 10"/>
          <p:cNvSpPr/>
          <p:nvPr/>
        </p:nvSpPr>
        <p:spPr>
          <a:xfrm>
            <a:off x="7059168" y="1490472"/>
            <a:ext cx="12984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EXECUÇÃO</a:t>
            </a:r>
            <a:endParaRPr lang="en-US" sz="750" dirty="0"/>
          </a:p>
        </p:txBody>
      </p:sp>
      <p:sp>
        <p:nvSpPr>
          <p:cNvPr id="17" name="Text 11"/>
          <p:cNvSpPr/>
          <p:nvPr/>
        </p:nvSpPr>
        <p:spPr>
          <a:xfrm>
            <a:off x="5120640" y="181051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RQP-4C18  ·  Gol 1.6  ·  2014  ·  128.400 km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5120640" y="2240280"/>
            <a:ext cx="3246120" cy="384048"/>
          </a:xfrm>
          <a:prstGeom prst="roundRect">
            <a:avLst>
              <a:gd name="adj" fmla="val 14286"/>
            </a:avLst>
          </a:prstGeom>
          <a:solidFill>
            <a:srgbClr val="242A31"/>
          </a:solidFill>
          <a:ln/>
        </p:spPr>
      </p:sp>
      <p:sp>
        <p:nvSpPr>
          <p:cNvPr id="19" name="Text 13"/>
          <p:cNvSpPr/>
          <p:nvPr/>
        </p:nvSpPr>
        <p:spPr>
          <a:xfrm>
            <a:off x="5257800" y="22402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3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Pastilha de freio diant. (par)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7315200" y="22402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R$ 189,00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5120640" y="2715768"/>
            <a:ext cx="3246120" cy="384048"/>
          </a:xfrm>
          <a:prstGeom prst="roundRect">
            <a:avLst>
              <a:gd name="adj" fmla="val 14286"/>
            </a:avLst>
          </a:prstGeom>
          <a:solidFill>
            <a:srgbClr val="242A31"/>
          </a:solidFill>
          <a:ln/>
        </p:spPr>
      </p:sp>
      <p:sp>
        <p:nvSpPr>
          <p:cNvPr id="22" name="Text 16"/>
          <p:cNvSpPr/>
          <p:nvPr/>
        </p:nvSpPr>
        <p:spPr>
          <a:xfrm>
            <a:off x="5257800" y="27157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3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 ventilado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7315200" y="271576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R$ 320,00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120640" y="3191256"/>
            <a:ext cx="3246120" cy="384048"/>
          </a:xfrm>
          <a:prstGeom prst="roundRect">
            <a:avLst>
              <a:gd name="adj" fmla="val 14286"/>
            </a:avLst>
          </a:prstGeom>
          <a:solidFill>
            <a:srgbClr val="242A31"/>
          </a:solidFill>
          <a:ln/>
        </p:spPr>
      </p:sp>
      <p:sp>
        <p:nvSpPr>
          <p:cNvPr id="25" name="Text 19"/>
          <p:cNvSpPr/>
          <p:nvPr/>
        </p:nvSpPr>
        <p:spPr>
          <a:xfrm>
            <a:off x="5257800" y="319125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3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de obra — 1,5 h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7315200" y="319125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R$ 225,00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5120640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667512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265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R$ 734,00</a:t>
            </a:r>
            <a:endParaRPr lang="en-US" sz="2000" dirty="0"/>
          </a:p>
        </p:txBody>
      </p:sp>
      <p:sp>
        <p:nvSpPr>
          <p:cNvPr id="29" name="Shape 23"/>
          <p:cNvSpPr/>
          <p:nvPr/>
        </p:nvSpPr>
        <p:spPr>
          <a:xfrm>
            <a:off x="5120640" y="4096512"/>
            <a:ext cx="3246120" cy="292608"/>
          </a:xfrm>
          <a:prstGeom prst="roundRect">
            <a:avLst>
              <a:gd name="adj" fmla="val 18750"/>
            </a:avLst>
          </a:prstGeom>
          <a:solidFill>
            <a:srgbClr val="1F7A6B"/>
          </a:solidFill>
          <a:ln/>
        </p:spPr>
      </p:sp>
      <p:sp>
        <p:nvSpPr>
          <p:cNvPr id="30" name="Text 24"/>
          <p:cNvSpPr/>
          <p:nvPr/>
        </p:nvSpPr>
        <p:spPr>
          <a:xfrm>
            <a:off x="5120640" y="409651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 pelo cliente no WhatsApp · 14:32</a:t>
            </a:r>
            <a:endParaRPr lang="en-US" sz="850" dirty="0"/>
          </a:p>
        </p:txBody>
      </p:sp>
      <p:sp>
        <p:nvSpPr>
          <p:cNvPr id="31" name="Text 25"/>
          <p:cNvSpPr/>
          <p:nvPr/>
        </p:nvSpPr>
        <p:spPr>
          <a:xfrm>
            <a:off x="548640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 Pro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7863840" y="47091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 portão ao Pix, em cinco toques.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508760" cy="22860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737360"/>
            <a:ext cx="457200" cy="45720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8013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373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CE1E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94944" y="23042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Entrada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94944" y="260604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Bipa a placa. Ficha do veículo e histórico aparecem prontos.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112264" y="1965960"/>
            <a:ext cx="128016" cy="0"/>
          </a:xfrm>
          <a:prstGeom prst="line">
            <a:avLst/>
          </a:prstGeom>
          <a:noFill/>
          <a:ln w="31750">
            <a:solidFill>
              <a:srgbClr val="F2652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185416" y="1572768"/>
            <a:ext cx="1508760" cy="22860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331720" y="1737360"/>
            <a:ext cx="457200" cy="45720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180136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054096" y="17373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CE1E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2331720" y="23042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Diagnóstico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2331720" y="260604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e vídeo do defeito anexados à OS. Checklist de 12 itens.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749040" y="1965960"/>
            <a:ext cx="128016" cy="0"/>
          </a:xfrm>
          <a:prstGeom prst="line">
            <a:avLst/>
          </a:prstGeom>
          <a:noFill/>
          <a:ln w="31750">
            <a:solidFill>
              <a:srgbClr val="F2652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822192" y="1572768"/>
            <a:ext cx="1508760" cy="22860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968496" y="1737360"/>
            <a:ext cx="457200" cy="45720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2504" y="1801368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690872" y="17373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CE1E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3968496" y="23042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Orçamento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3968496" y="260604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Enviado e aprovado no WhatsApp, com registro do aceite.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385816" y="1965960"/>
            <a:ext cx="128016" cy="0"/>
          </a:xfrm>
          <a:prstGeom prst="line">
            <a:avLst/>
          </a:prstGeom>
          <a:noFill/>
          <a:ln w="31750">
            <a:solidFill>
              <a:srgbClr val="F2652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458968" y="1572768"/>
            <a:ext cx="1508760" cy="22860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5605272" y="1737360"/>
            <a:ext cx="457200" cy="45720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1801368"/>
            <a:ext cx="329184" cy="32918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327648" y="17373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CE1E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2000" dirty="0"/>
          </a:p>
        </p:txBody>
      </p:sp>
      <p:sp>
        <p:nvSpPr>
          <p:cNvPr id="29" name="Text 23"/>
          <p:cNvSpPr/>
          <p:nvPr/>
        </p:nvSpPr>
        <p:spPr>
          <a:xfrm>
            <a:off x="5605272" y="23042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Execução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5605272" y="260604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baixa do estoque. Mecânico aponta hora trabalhada.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7022592" y="1965960"/>
            <a:ext cx="128016" cy="0"/>
          </a:xfrm>
          <a:prstGeom prst="line">
            <a:avLst/>
          </a:prstGeom>
          <a:noFill/>
          <a:ln w="31750">
            <a:solidFill>
              <a:srgbClr val="F26522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7095744" y="1572768"/>
            <a:ext cx="1508760" cy="22860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7242048" y="1737360"/>
            <a:ext cx="457200" cy="45720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6056" y="1801368"/>
            <a:ext cx="329184" cy="32918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964424" y="17373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CE1E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2000" dirty="0"/>
          </a:p>
        </p:txBody>
      </p:sp>
      <p:sp>
        <p:nvSpPr>
          <p:cNvPr id="36" name="Text 29"/>
          <p:cNvSpPr/>
          <p:nvPr/>
        </p:nvSpPr>
        <p:spPr>
          <a:xfrm>
            <a:off x="7242048" y="23042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Entrega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7242048" y="260604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emitida, Pix na hora, revisão agendada em 6 meses.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548640" y="4041648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39" name="Text 32"/>
          <p:cNvSpPr/>
          <p:nvPr/>
        </p:nvSpPr>
        <p:spPr>
          <a:xfrm>
            <a:off x="822960" y="40416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passo exige sair da tela da OS. </a:t>
            </a:r>
            <a:pPr indent="0" marL="0"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mecânico precisa aprender um sistema, o sistema está errado.</a:t>
            </a:r>
            <a:endParaRPr lang="en-US" sz="1150" dirty="0"/>
          </a:p>
        </p:txBody>
      </p:sp>
      <p:sp>
        <p:nvSpPr>
          <p:cNvPr id="40" name="Text 33"/>
          <p:cNvSpPr/>
          <p:nvPr/>
        </p:nvSpPr>
        <p:spPr>
          <a:xfrm>
            <a:off x="548640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 Pro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7863840" y="47091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VEM JUNTO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Seis módulos. Um preço.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1389888"/>
          </a:xfrm>
          <a:prstGeom prst="roundRect">
            <a:avLst>
              <a:gd name="adj" fmla="val 5921"/>
            </a:avLst>
          </a:prstGeom>
          <a:solidFill>
            <a:srgbClr val="FDEDE2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572768"/>
            <a:ext cx="420624" cy="420624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695" y="1631655"/>
            <a:ext cx="302849" cy="3028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59105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Fiscal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084832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NFS-e nacional, NFC-e e conciliação da maquininha. Com garantia de multa.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91840" y="1371600"/>
            <a:ext cx="2560320" cy="1389888"/>
          </a:xfrm>
          <a:prstGeom prst="roundRect">
            <a:avLst>
              <a:gd name="adj" fmla="val 5921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93008" y="1572768"/>
            <a:ext cx="420624" cy="420624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1895" y="1631655"/>
            <a:ext cx="302849" cy="3028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23360" y="159105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Ordem de serviço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493008" y="2084832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digital com foto, checklist, garantia de peça e histórico por placa.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035040" y="1371600"/>
            <a:ext cx="2560320" cy="1389888"/>
          </a:xfrm>
          <a:prstGeom prst="roundRect">
            <a:avLst>
              <a:gd name="adj" fmla="val 5921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36208" y="1572768"/>
            <a:ext cx="420624" cy="420624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095" y="1631655"/>
            <a:ext cx="302849" cy="3028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159105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Estoque de peças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236208" y="2084832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automática, estoque mínimo e cotação com três fornecedores.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48640" y="2889504"/>
            <a:ext cx="2560320" cy="1389888"/>
          </a:xfrm>
          <a:prstGeom prst="roundRect">
            <a:avLst>
              <a:gd name="adj" fmla="val 5921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3090672"/>
            <a:ext cx="420624" cy="420624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695" y="3149559"/>
            <a:ext cx="302849" cy="3028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31089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Financeiro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49808" y="3602736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Caixa, contas a pagar e receber, margem por serviço e por mecânico.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291840" y="2889504"/>
            <a:ext cx="2560320" cy="1389888"/>
          </a:xfrm>
          <a:prstGeom prst="roundRect">
            <a:avLst>
              <a:gd name="adj" fmla="val 5921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93008" y="3090672"/>
            <a:ext cx="420624" cy="420624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1895" y="3149559"/>
            <a:ext cx="302849" cy="30284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023360" y="31089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Retorno do cliente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3493008" y="3602736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Lembrete de revisão, troca de óleo e aniversário do carro.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6035040" y="2889504"/>
            <a:ext cx="2560320" cy="1389888"/>
          </a:xfrm>
          <a:prstGeom prst="roundRect">
            <a:avLst>
              <a:gd name="adj" fmla="val 5921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36208" y="3090672"/>
            <a:ext cx="420624" cy="420624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5095" y="3149559"/>
            <a:ext cx="302849" cy="30284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66560" y="31089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Painel do dono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6236208" y="3602736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Quantos carros na baia, quanto entrou hoje, o que está travado.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548640" y="43708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venda casada de módulo. Sem taxa de implantação. Sem fidelidade.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548640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 Pro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7863840" y="47091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peça certa, sem digitar uma letra.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orçamento morre na digitação. No Oficina Pro, você escolhe a peça pelo catálogo do próprio veículo — com código, aplicação e preço de três fornecedores lado a lado. Escolheu, o pedido sai. Chegou, o estoque entra.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816352"/>
            <a:ext cx="18288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78892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eletrônico integrado à ficha do carro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200400"/>
            <a:ext cx="182880" cy="182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317296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preço e prazo antes de aprovar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584448"/>
            <a:ext cx="182880" cy="1828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8680" y="355701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Acabou a peça comprada duas vezes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968496"/>
            <a:ext cx="182880" cy="1828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68680" y="394106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Acabou a peça errada que volta pro fornecedor</a:t>
            </a:r>
            <a:endParaRPr lang="en-US" sz="1100" dirty="0"/>
          </a:p>
        </p:txBody>
      </p:sp>
      <p:sp>
        <p:nvSpPr>
          <p:cNvPr id="13" name="Shape 7"/>
          <p:cNvSpPr/>
          <p:nvPr/>
        </p:nvSpPr>
        <p:spPr>
          <a:xfrm>
            <a:off x="4846320" y="1298448"/>
            <a:ext cx="3749040" cy="3127248"/>
          </a:xfrm>
          <a:prstGeom prst="roundRect">
            <a:avLst>
              <a:gd name="adj" fmla="val 3509"/>
            </a:avLst>
          </a:prstGeom>
          <a:solidFill>
            <a:srgbClr val="F1F3F5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8"/>
          <p:cNvSpPr/>
          <p:nvPr/>
        </p:nvSpPr>
        <p:spPr>
          <a:xfrm>
            <a:off x="5074920" y="150876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5" name="Shape 9"/>
          <p:cNvSpPr/>
          <p:nvPr/>
        </p:nvSpPr>
        <p:spPr>
          <a:xfrm>
            <a:off x="5148072" y="1563624"/>
            <a:ext cx="256032" cy="256032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3916" y="1599468"/>
            <a:ext cx="184343" cy="18434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486400" y="15087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pastilha de freio · Gol 1.6 2014</a:t>
            </a:r>
            <a:endParaRPr lang="en-US" sz="950" dirty="0"/>
          </a:p>
        </p:txBody>
      </p:sp>
      <p:sp>
        <p:nvSpPr>
          <p:cNvPr id="18" name="Shape 11"/>
          <p:cNvSpPr/>
          <p:nvPr/>
        </p:nvSpPr>
        <p:spPr>
          <a:xfrm>
            <a:off x="5074920" y="2084832"/>
            <a:ext cx="32918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Text 12"/>
          <p:cNvSpPr/>
          <p:nvPr/>
        </p:nvSpPr>
        <p:spPr>
          <a:xfrm>
            <a:off x="5230368" y="215798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  ·  original</a:t>
            </a:r>
            <a:endParaRPr lang="en-US" sz="950" dirty="0"/>
          </a:p>
        </p:txBody>
      </p:sp>
      <p:sp>
        <p:nvSpPr>
          <p:cNvPr id="20" name="Text 13"/>
          <p:cNvSpPr/>
          <p:nvPr/>
        </p:nvSpPr>
        <p:spPr>
          <a:xfrm>
            <a:off x="5230368" y="237744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hoje</a:t>
            </a:r>
            <a:endParaRPr lang="en-US" sz="800" dirty="0"/>
          </a:p>
        </p:txBody>
      </p:sp>
      <p:sp>
        <p:nvSpPr>
          <p:cNvPr id="21" name="Text 14"/>
          <p:cNvSpPr/>
          <p:nvPr/>
        </p:nvSpPr>
        <p:spPr>
          <a:xfrm>
            <a:off x="6949440" y="21305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R$ 189,00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6949440" y="239572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recomendada</a:t>
            </a:r>
            <a:endParaRPr lang="en-US" sz="750" dirty="0"/>
          </a:p>
        </p:txBody>
      </p:sp>
      <p:sp>
        <p:nvSpPr>
          <p:cNvPr id="23" name="Shape 16"/>
          <p:cNvSpPr/>
          <p:nvPr/>
        </p:nvSpPr>
        <p:spPr>
          <a:xfrm>
            <a:off x="5074920" y="2743200"/>
            <a:ext cx="32918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Text 17"/>
          <p:cNvSpPr/>
          <p:nvPr/>
        </p:nvSpPr>
        <p:spPr>
          <a:xfrm>
            <a:off x="5230368" y="281635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Fras-le  ·  similar</a:t>
            </a:r>
            <a:endParaRPr lang="en-US" sz="950" dirty="0"/>
          </a:p>
        </p:txBody>
      </p:sp>
      <p:sp>
        <p:nvSpPr>
          <p:cNvPr id="25" name="Text 18"/>
          <p:cNvSpPr/>
          <p:nvPr/>
        </p:nvSpPr>
        <p:spPr>
          <a:xfrm>
            <a:off x="5230368" y="303580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amanhã</a:t>
            </a:r>
            <a:endParaRPr lang="en-US" sz="800" dirty="0"/>
          </a:p>
        </p:txBody>
      </p:sp>
      <p:sp>
        <p:nvSpPr>
          <p:cNvPr id="26" name="Text 19"/>
          <p:cNvSpPr/>
          <p:nvPr/>
        </p:nvSpPr>
        <p:spPr>
          <a:xfrm>
            <a:off x="6949440" y="2788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265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R$ 142,00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6949440" y="305409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barata</a:t>
            </a:r>
            <a:endParaRPr lang="en-US" sz="750" dirty="0"/>
          </a:p>
        </p:txBody>
      </p:sp>
      <p:sp>
        <p:nvSpPr>
          <p:cNvPr id="28" name="Shape 21"/>
          <p:cNvSpPr/>
          <p:nvPr/>
        </p:nvSpPr>
        <p:spPr>
          <a:xfrm>
            <a:off x="5074920" y="3401568"/>
            <a:ext cx="32918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Text 22"/>
          <p:cNvSpPr/>
          <p:nvPr/>
        </p:nvSpPr>
        <p:spPr>
          <a:xfrm>
            <a:off x="5230368" y="347472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Cobreq  ·  similar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5230368" y="369417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3 dias</a:t>
            </a:r>
            <a:endParaRPr lang="en-US" sz="800" dirty="0"/>
          </a:p>
        </p:txBody>
      </p:sp>
      <p:sp>
        <p:nvSpPr>
          <p:cNvPr id="31" name="Text 24"/>
          <p:cNvSpPr/>
          <p:nvPr/>
        </p:nvSpPr>
        <p:spPr>
          <a:xfrm>
            <a:off x="6949440" y="34472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265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R$ 118,00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6949440" y="371246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barata</a:t>
            </a:r>
            <a:endParaRPr lang="en-US" sz="750" dirty="0"/>
          </a:p>
        </p:txBody>
      </p:sp>
      <p:sp>
        <p:nvSpPr>
          <p:cNvPr id="33" name="Shape 26"/>
          <p:cNvSpPr/>
          <p:nvPr/>
        </p:nvSpPr>
        <p:spPr>
          <a:xfrm>
            <a:off x="5074920" y="4005072"/>
            <a:ext cx="3291840" cy="310896"/>
          </a:xfrm>
          <a:prstGeom prst="roundRect">
            <a:avLst>
              <a:gd name="adj" fmla="val 17647"/>
            </a:avLst>
          </a:prstGeom>
          <a:solidFill>
            <a:srgbClr val="F26522"/>
          </a:solidFill>
          <a:ln/>
        </p:spPr>
      </p:sp>
      <p:sp>
        <p:nvSpPr>
          <p:cNvPr id="34" name="Text 27"/>
          <p:cNvSpPr/>
          <p:nvPr/>
        </p:nvSpPr>
        <p:spPr>
          <a:xfrm>
            <a:off x="5074920" y="400507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à OS #1042 e pedir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548640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 Pro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7863840" y="47091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DIFERENCIAL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histórico não é seu. É do carro.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B9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sistema guarda o histórico por cliente. O Oficina Pro guarda por placa — e o carro carrega o que foi feito nele, com foto e nota, para sempre.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2860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3774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spc="200" kern="0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RQP-4C18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32186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serviços  ·  desde 2019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937760" y="1371600"/>
            <a:ext cx="3657600" cy="969264"/>
          </a:xfrm>
          <a:prstGeom prst="roundRect">
            <a:avLst>
              <a:gd name="adj" fmla="val 7547"/>
            </a:avLst>
          </a:prstGeom>
          <a:solidFill>
            <a:srgbClr val="242A31"/>
          </a:solidFill>
          <a:ln/>
        </p:spPr>
      </p:sp>
      <p:sp>
        <p:nvSpPr>
          <p:cNvPr id="9" name="Shape 7"/>
          <p:cNvSpPr/>
          <p:nvPr/>
        </p:nvSpPr>
        <p:spPr>
          <a:xfrm>
            <a:off x="5120640" y="1508760"/>
            <a:ext cx="384048" cy="38404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4407" y="1562527"/>
            <a:ext cx="276515" cy="27651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614416" y="1490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volta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614416" y="17373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A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sabe o que trocou e quando. A próxima revisão se agenda sozinha, sem você lembrar.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937760" y="2450592"/>
            <a:ext cx="3657600" cy="969264"/>
          </a:xfrm>
          <a:prstGeom prst="roundRect">
            <a:avLst>
              <a:gd name="adj" fmla="val 7547"/>
            </a:avLst>
          </a:prstGeom>
          <a:solidFill>
            <a:srgbClr val="242A31"/>
          </a:solidFill>
          <a:ln/>
        </p:spPr>
      </p:sp>
      <p:sp>
        <p:nvSpPr>
          <p:cNvPr id="14" name="Shape 11"/>
          <p:cNvSpPr/>
          <p:nvPr/>
        </p:nvSpPr>
        <p:spPr>
          <a:xfrm>
            <a:off x="5120640" y="2587752"/>
            <a:ext cx="384048" cy="38404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4407" y="2641519"/>
            <a:ext cx="276515" cy="27651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614416" y="256946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carro vale mais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5614416" y="281635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A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documentado na revenda. O dono do carro tem motivo para preferir sua oficina.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4937760" y="3529584"/>
            <a:ext cx="3657600" cy="969264"/>
          </a:xfrm>
          <a:prstGeom prst="roundRect">
            <a:avLst>
              <a:gd name="adj" fmla="val 7547"/>
            </a:avLst>
          </a:prstGeom>
          <a:solidFill>
            <a:srgbClr val="242A31"/>
          </a:solidFill>
          <a:ln/>
        </p:spPr>
      </p:sp>
      <p:sp>
        <p:nvSpPr>
          <p:cNvPr id="19" name="Shape 15"/>
          <p:cNvSpPr/>
          <p:nvPr/>
        </p:nvSpPr>
        <p:spPr>
          <a:xfrm>
            <a:off x="5120640" y="3666744"/>
            <a:ext cx="384048" cy="384048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4407" y="3720511"/>
            <a:ext cx="276515" cy="27651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614416" y="36484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garantia é sua aliada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5614416" y="3895344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A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com nota e data. Reclamação de garantia deixa de ser palavra contra palavra.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548640" y="376732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concorrente brasileiro faz isso. É o que a sua oficina acumula e que ninguém consegue copiar depois.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548640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 Pro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7863840" y="47091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COMPARAÇÃO HONESTA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9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Seu concorrente não é software. É o caderno.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caderno é grátis, funciona e nunca deu tela azul. É contra ele que a gente precisa ganhar — não contra software nenhum.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931920" cy="2606040"/>
          </a:xfrm>
          <a:prstGeom prst="roundRect">
            <a:avLst>
              <a:gd name="adj" fmla="val 3509"/>
            </a:avLst>
          </a:prstGeom>
          <a:solidFill>
            <a:srgbClr val="F1F3F5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933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959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Caderno e planilha</a:t>
            </a:r>
            <a:endParaRPr lang="en-US" sz="13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59736"/>
            <a:ext cx="173736" cy="1737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243230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emite nota — e em setembro isso trava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825496"/>
            <a:ext cx="173736" cy="1737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15568" y="279806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orçamento aprovado vira palavra contra palavra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191256"/>
            <a:ext cx="173736" cy="17373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15568" y="316382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estoque só existe na cabeça de alguém</a:t>
            </a:r>
            <a:endParaRPr lang="en-US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557016"/>
            <a:ext cx="173736" cy="17373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15568" y="352958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descobre o prejuízo no fim do mês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922776"/>
            <a:ext cx="173736" cy="17373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15568" y="389534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caderno molhar, acabou</a:t>
            </a:r>
            <a:endParaRPr lang="en-US" sz="1050" dirty="0"/>
          </a:p>
        </p:txBody>
      </p:sp>
      <p:sp>
        <p:nvSpPr>
          <p:cNvPr id="17" name="Shape 10"/>
          <p:cNvSpPr/>
          <p:nvPr/>
        </p:nvSpPr>
        <p:spPr>
          <a:xfrm>
            <a:off x="4663440" y="1828800"/>
            <a:ext cx="3931920" cy="2606040"/>
          </a:xfrm>
          <a:prstGeom prst="roundRect">
            <a:avLst>
              <a:gd name="adj" fmla="val 3509"/>
            </a:avLst>
          </a:prstGeom>
          <a:solidFill>
            <a:srgbClr val="16191D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1"/>
          <p:cNvSpPr/>
          <p:nvPr/>
        </p:nvSpPr>
        <p:spPr>
          <a:xfrm>
            <a:off x="4919472" y="19933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65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Oficina Pro</a:t>
            </a:r>
            <a:endParaRPr lang="en-US" sz="13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2459736"/>
            <a:ext cx="173736" cy="17373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230368" y="243230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emitida na entrega, com garantia de multa</a:t>
            </a:r>
            <a:endParaRPr lang="en-US" sz="105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2825496"/>
            <a:ext cx="173736" cy="173736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230368" y="279806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Aceite do orçamento com data e hora</a:t>
            </a:r>
            <a:endParaRPr lang="en-US" sz="105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3191256"/>
            <a:ext cx="173736" cy="173736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230368" y="316382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baixa sozinho quando a peça sai</a:t>
            </a:r>
            <a:endParaRPr lang="en-US" sz="105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3557016"/>
            <a:ext cx="173736" cy="173736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230368" y="352958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vê a margem antes de aprovar o serviço</a:t>
            </a:r>
            <a:endParaRPr lang="en-US" sz="1050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3922776"/>
            <a:ext cx="173736" cy="173736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230368" y="389534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offline; o dado é seu e fica na nuvem</a:t>
            </a:r>
            <a:endParaRPr lang="en-US" sz="1050" dirty="0"/>
          </a:p>
        </p:txBody>
      </p:sp>
      <p:sp>
        <p:nvSpPr>
          <p:cNvPr id="29" name="Text 17"/>
          <p:cNvSpPr/>
          <p:nvPr/>
        </p:nvSpPr>
        <p:spPr>
          <a:xfrm>
            <a:off x="548640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 Pro</a:t>
            </a:r>
            <a:endParaRPr lang="en-US" sz="900" dirty="0"/>
          </a:p>
        </p:txBody>
      </p:sp>
      <p:sp>
        <p:nvSpPr>
          <p:cNvPr id="30" name="Text 18"/>
          <p:cNvSpPr/>
          <p:nvPr/>
        </p:nvSpPr>
        <p:spPr>
          <a:xfrm>
            <a:off x="7863840" y="47091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Preço de oficina, não de software.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08176"/>
            <a:ext cx="2560320" cy="2779776"/>
          </a:xfrm>
          <a:prstGeom prst="roundRect">
            <a:avLst>
              <a:gd name="adj" fmla="val 4286"/>
            </a:avLst>
          </a:prstGeom>
          <a:solidFill>
            <a:srgbClr val="242A31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727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9110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R$ 99</a:t>
            </a:r>
            <a:pPr indent="0" marL="0">
              <a:buNone/>
            </a:pPr>
            <a:r>
              <a:rPr lang="en-US" sz="1050" dirty="0">
                <a:solidFill>
                  <a:srgbClr val="9A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/mês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77240" y="236829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 e oficina solo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270662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2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usuário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298094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2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ilimitada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32552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2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NFS-e nacional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77240" y="352958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2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e caixa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73552" y="1298448"/>
            <a:ext cx="2560320" cy="2999232"/>
          </a:xfrm>
          <a:prstGeom prst="roundRect">
            <a:avLst>
              <a:gd name="adj" fmla="val 4286"/>
            </a:avLst>
          </a:prstGeom>
          <a:solidFill>
            <a:srgbClr val="F26522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45152" y="1481328"/>
            <a:ext cx="100584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VENDIDO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502152" y="1463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Oficina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02152" y="18013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R$ 189</a:t>
            </a:r>
            <a:pPr indent="0" marL="0">
              <a:buNone/>
            </a:pPr>
            <a:r>
              <a:rPr lang="en-US" sz="1050" dirty="0">
                <a:solidFill>
                  <a:srgbClr val="FFE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/mês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3502152" y="22585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E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 6 mecânicos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02152" y="259689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 ilimitados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502152" y="287121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do Baia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502152" y="314553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NFC-e e catálogo de peças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502152" y="341985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Garantia de multa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502152" y="369417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automático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98464" y="1408176"/>
            <a:ext cx="2560320" cy="2779776"/>
          </a:xfrm>
          <a:prstGeom prst="roundRect">
            <a:avLst>
              <a:gd name="adj" fmla="val 4286"/>
            </a:avLst>
          </a:prstGeom>
          <a:solidFill>
            <a:srgbClr val="242A31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27064" y="15727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Rede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27064" y="19110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R$ 389</a:t>
            </a:r>
            <a:pPr indent="0" marL="0">
              <a:buNone/>
            </a:pPr>
            <a:r>
              <a:rPr lang="en-US" sz="1050" dirty="0">
                <a:solidFill>
                  <a:srgbClr val="9A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/mês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6227064" y="236829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unidades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27064" y="270662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2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do Oficina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27064" y="298094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2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Consolidado por unidade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27064" y="32552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2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por mecânico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27064" y="352958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2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Integrações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" y="44074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dias grátis, sem cartão.  ·  Migramos sua planilha por você.  ·  Cancela quando quiser.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 Pro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863840" y="47091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2377440"/>
            <a:ext cx="4937760" cy="4937760"/>
          </a:xfrm>
          <a:prstGeom prst="ellipse">
            <a:avLst/>
          </a:prstGeom>
          <a:solidFill>
            <a:srgbClr val="F2652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-1097280"/>
            <a:ext cx="3840480" cy="3840480"/>
          </a:xfrm>
          <a:prstGeom prst="ellipse">
            <a:avLst/>
          </a:prstGeom>
          <a:solidFill>
            <a:srgbClr val="F26522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566928"/>
            <a:ext cx="548640" cy="54864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738" y="643738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58521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OFICINA PRO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169164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Setembro chega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 qualquer jeito.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548640" y="320040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B9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 escolhendo 20 oficinas para o piloto: implantação assistida, migração da sua planilha por nossa conta e três meses sem cobrar. Em troca, queremos o número real da sua margem, antes e depois.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4224528"/>
            <a:ext cx="2331720" cy="512064"/>
          </a:xfrm>
          <a:prstGeom prst="roundRect">
            <a:avLst>
              <a:gd name="adj" fmla="val 50000"/>
            </a:avLst>
          </a:prstGeom>
          <a:solidFill>
            <a:srgbClr val="F26522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4224528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Quero o piloto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108960" y="4224528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oficinapro.com.br  ·  contato@oficinapro.com.br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Oficina Pro — sua oficina em ordem, sua nota em dia</dc:title>
  <dc:subject>PptxGenJS Presentation</dc:subject>
  <dc:creator>Oficina Pro</dc:creator>
  <cp:lastModifiedBy>Oficina Pro</cp:lastModifiedBy>
  <cp:revision>1</cp:revision>
  <dcterms:created xsi:type="dcterms:W3CDTF">2026-07-10T14:57:11Z</dcterms:created>
  <dcterms:modified xsi:type="dcterms:W3CDTF">2026-07-10T14:57:11Z</dcterms:modified>
</cp:coreProperties>
</file>