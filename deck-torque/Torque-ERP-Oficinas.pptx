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Antes do Torque</c:v>
                </c:pt>
              </c:strCache>
            </c:strRef>
          </c:tx>
          <c:spPr>
            <a:solidFill>
              <a:srgbClr val="C9D0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Faturamento
mensal</c:v>
                  </c:pt>
                  <c:pt idx="1">
                    <c:v>Peça comprada
em duplicidade</c:v>
                  </c:pt>
                  <c:pt idx="2">
                    <c:v>Retorno do
cliente (%)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62</c:v>
                </c:pt>
                <c:pt idx="1">
                  <c:v>100</c:v>
                </c:pt>
                <c:pt idx="2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Depois (6 meses)</c:v>
                </c:pt>
              </c:strCache>
            </c:strRef>
          </c:tx>
          <c:spPr>
            <a:solidFill>
              <a:srgbClr val="F2652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Faturamento
mensal</c:v>
                  </c:pt>
                  <c:pt idx="1">
                    <c:v>Peça comprada
em duplicidade</c:v>
                  </c:pt>
                  <c:pt idx="2">
                    <c:v>Retorno do
cliente (%)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100</c:v>
                </c:pt>
                <c:pt idx="1">
                  <c:v>22</c:v>
                </c:pt>
                <c:pt idx="2">
                  <c:v>174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78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0"/>
        </c:scaling>
        <c:delete val="0"/>
        <c:axPos val="l"/>
        <c:majorGridlines>
          <c:spPr>
            <a:ln w="6350" cap="flat">
              <a:solidFill>
                <a:srgbClr val="E7EB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78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B7785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6191D"/>
                </a:solidFill>
                <a:latin typeface="Calibri"/>
              </a:defRPr>
            </a:pPr>
            <a:r>
              <a:rPr sz="1100" b="0" i="0" u="none" strike="noStrike">
                <a:solidFill>
                  <a:srgbClr val="16191D"/>
                </a:solidFill>
                <a:latin typeface="Calibri"/>
              </a:rPr>
              <a:t>Base de clientes (projeção)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Oficinas pagantes</c:v>
                </c:pt>
              </c:strCache>
            </c:strRef>
          </c:tx>
          <c:spPr>
            <a:solidFill>
              <a:srgbClr val="F26522"/>
            </a:solidFill>
            <a:ln w="44450" cap="flat">
              <a:solidFill>
                <a:srgbClr val="F2652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6191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26522"/>
              </a:solidFill>
              <a:ln w="9525" cap="flat">
                <a:solidFill>
                  <a:srgbClr val="F2652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Ano 1</c:v>
                  </c:pt>
                  <c:pt idx="1">
                    <c:v>Ano 2</c:v>
                  </c:pt>
                  <c:pt idx="2">
                    <c:v>Ano 3</c:v>
                  </c:pt>
                  <c:pt idx="3">
                    <c:v>Ano 4</c:v>
                  </c:pt>
                  <c:pt idx="4">
                    <c:v>Ano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420</c:v>
                </c:pt>
                <c:pt idx="1">
                  <c:v>1500</c:v>
                </c:pt>
                <c:pt idx="2">
                  <c:v>4200</c:v>
                </c:pt>
                <c:pt idx="3">
                  <c:v>8600</c:v>
                </c:pt>
                <c:pt idx="4">
                  <c:v>15000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16191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78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B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78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com a frase: 'hoje, 8 em cada 10 oficinas pequenas rodam num caderno'. Torque é o ERP feito para quem tem graxa na mão, não para o contador.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é falta de trabalho: é falta de visibilidade. A dor é margem, não faturamento.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Fontes: Sindirepa Brasil (Anuário 2025/26), Sindipeças Frota Circulante 2025, McKinsey via Peçamentor.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Demonstrar a OS real. O 'aha' é o aceite do orçamento com carimbo de hora — acaba a discussão no balcão.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Concorrentes citados: Oficina Integrada (R$99–299), Oficina Inteligente (R$289–499), Ultracar, WSoft (R$79,90). Nosso ângulo não é preço — é adoção.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pedindo o compromisso menor possível: uma oficina, uma semana. Não peça contrato — peça o piloto.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754880" cy="4754880"/>
          </a:xfrm>
          <a:prstGeom prst="ellipse">
            <a:avLst/>
          </a:prstGeom>
          <a:solidFill>
            <a:srgbClr val="F26522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863840" y="3108960"/>
            <a:ext cx="3108960" cy="3108960"/>
          </a:xfrm>
          <a:prstGeom prst="ellipse">
            <a:avLst/>
          </a:prstGeom>
          <a:solidFill>
            <a:srgbClr val="F26522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685800"/>
            <a:ext cx="566928" cy="566928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6298" y="765170"/>
            <a:ext cx="408188" cy="4081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98448" y="713232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500" kern="0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TORQUE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548640" y="1783080"/>
            <a:ext cx="6035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 ERP que roda</a:t>
            </a:r>
            <a:endParaRPr lang="en-US" sz="4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na graxa.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548640" y="3520440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B9C1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completa para a oficina independente: ordem de serviço, peças, caixa e cliente — em um só lugar, no celular do mecânico.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4572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comercial ·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9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oficina fatura bem. E não sabe quanto sobra.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53312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dono é o melhor mecânico da casa — e também o orçamentista, o comprador de peças, o cobrador e o financeiro. A informação mora em quatro lugares e nenhum conversa com o outro.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0" y="1298448"/>
            <a:ext cx="3108960" cy="786384"/>
          </a:xfrm>
          <a:prstGeom prst="roundRect">
            <a:avLst>
              <a:gd name="adj" fmla="val 9302"/>
            </a:avLst>
          </a:prstGeom>
          <a:solidFill>
            <a:srgbClr val="F1F3F5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650992" y="1453896"/>
            <a:ext cx="384048" cy="384048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04759" y="1507663"/>
            <a:ext cx="276515" cy="27651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144768" y="1417320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Caderno e planilha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6144768" y="164592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Placa anotada à mão, status na cabeça do mecânico, valor somado na calculadora.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486400" y="2194560"/>
            <a:ext cx="3108960" cy="786384"/>
          </a:xfrm>
          <a:prstGeom prst="roundRect">
            <a:avLst>
              <a:gd name="adj" fmla="val 9302"/>
            </a:avLst>
          </a:prstGeom>
          <a:solidFill>
            <a:srgbClr val="F1F3F5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650992" y="2350008"/>
            <a:ext cx="384048" cy="384048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4759" y="2403775"/>
            <a:ext cx="276515" cy="27651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144768" y="231343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Orçamento perdido no WhatsApp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6144768" y="254203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Aprovação verbal, sem registro. Depois vira discussão no balcão.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5486400" y="3090672"/>
            <a:ext cx="3108960" cy="786384"/>
          </a:xfrm>
          <a:prstGeom prst="roundRect">
            <a:avLst>
              <a:gd name="adj" fmla="val 9302"/>
            </a:avLst>
          </a:prstGeom>
          <a:solidFill>
            <a:srgbClr val="F1F3F5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650992" y="3246120"/>
            <a:ext cx="384048" cy="384048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4759" y="3299887"/>
            <a:ext cx="276515" cy="276515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144768" y="3209544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 que some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6144768" y="3438144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estoque real, compra-se duas vezes ou o carro fica parado na baia.</a:t>
            </a:r>
            <a:endParaRPr lang="en-US" sz="850" dirty="0"/>
          </a:p>
        </p:txBody>
      </p:sp>
      <p:sp>
        <p:nvSpPr>
          <p:cNvPr id="20" name="Shape 15"/>
          <p:cNvSpPr/>
          <p:nvPr/>
        </p:nvSpPr>
        <p:spPr>
          <a:xfrm>
            <a:off x="5486400" y="3986784"/>
            <a:ext cx="3108960" cy="786384"/>
          </a:xfrm>
          <a:prstGeom prst="roundRect">
            <a:avLst>
              <a:gd name="adj" fmla="val 9302"/>
            </a:avLst>
          </a:prstGeom>
          <a:solidFill>
            <a:srgbClr val="F1F3F5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5650992" y="4142232"/>
            <a:ext cx="384048" cy="384048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4759" y="4195999"/>
            <a:ext cx="276515" cy="276515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144768" y="410565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sabe a margem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6144768" y="4334256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Fatura R$ 80 mil, tira R$ 4 mil. Ninguém sabe qual serviço dá prejuízo.</a:t>
            </a:r>
            <a:endParaRPr lang="en-US" sz="850" dirty="0"/>
          </a:p>
        </p:txBody>
      </p:sp>
      <p:sp>
        <p:nvSpPr>
          <p:cNvPr id="25" name="Shape 19"/>
          <p:cNvSpPr/>
          <p:nvPr/>
        </p:nvSpPr>
        <p:spPr>
          <a:xfrm>
            <a:off x="548640" y="2578608"/>
            <a:ext cx="4709160" cy="1481328"/>
          </a:xfrm>
          <a:prstGeom prst="roundRect">
            <a:avLst>
              <a:gd name="adj" fmla="val 6173"/>
            </a:avLst>
          </a:prstGeom>
          <a:solidFill>
            <a:srgbClr val="16191D"/>
          </a:solidFill>
          <a:ln/>
        </p:spPr>
      </p:sp>
      <p:sp>
        <p:nvSpPr>
          <p:cNvPr id="26" name="Text 20"/>
          <p:cNvSpPr/>
          <p:nvPr/>
        </p:nvSpPr>
        <p:spPr>
          <a:xfrm>
            <a:off x="868680" y="2761488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265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4h</a:t>
            </a:r>
            <a:endParaRPr lang="en-US" sz="5200" dirty="0"/>
          </a:p>
        </p:txBody>
      </p:sp>
      <p:sp>
        <p:nvSpPr>
          <p:cNvPr id="27" name="Text 21"/>
          <p:cNvSpPr/>
          <p:nvPr/>
        </p:nvSpPr>
        <p:spPr>
          <a:xfrm>
            <a:off x="2286000" y="278892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6CC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semana consolidando número em planilha — o limite a partir do qual um sistema dedicado se paga em até 90 dias.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548640" y="47091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7863840" y="4709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9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160 mil oficinas. Uma frota que só envelhece.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1901952" cy="1691640"/>
          </a:xfrm>
          <a:prstGeom prst="roundRect">
            <a:avLst>
              <a:gd name="adj" fmla="val 4324"/>
            </a:avLst>
          </a:prstGeom>
          <a:solidFill>
            <a:srgbClr val="F1F3F5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13232" y="162763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265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160 mil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713232" y="221284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oficinas independentes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13232" y="2651760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vinculadas às regionais do Sindirepa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615184" y="1481328"/>
            <a:ext cx="1901952" cy="1691640"/>
          </a:xfrm>
          <a:prstGeom prst="roundRect">
            <a:avLst>
              <a:gd name="adj" fmla="val 4324"/>
            </a:avLst>
          </a:prstGeom>
          <a:solidFill>
            <a:srgbClr val="F1F3F5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779776" y="162763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265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48,1 mi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2779776" y="221284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autoveículos circulando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779776" y="2651760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mi só de carros leves (Sindipeças)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681728" y="1481328"/>
            <a:ext cx="1901952" cy="1691640"/>
          </a:xfrm>
          <a:prstGeom prst="roundRect">
            <a:avLst>
              <a:gd name="adj" fmla="val 4324"/>
            </a:avLst>
          </a:prstGeom>
          <a:solidFill>
            <a:srgbClr val="F1F3F5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846320" y="162763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265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10a 11m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4846320" y="221284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idade média da frota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46320" y="2651760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carro velho = manutenção recorrente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748272" y="1481328"/>
            <a:ext cx="1901952" cy="1691640"/>
          </a:xfrm>
          <a:prstGeom prst="roundRect">
            <a:avLst>
              <a:gd name="adj" fmla="val 4324"/>
            </a:avLst>
          </a:prstGeom>
          <a:solidFill>
            <a:srgbClr val="F1F3F5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912864" y="162763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265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R$ 43 bi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6912864" y="221284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reposição / ano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912864" y="2651760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dobrar até 2040 (McKinsey)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48640" y="3401568"/>
            <a:ext cx="8046720" cy="1078992"/>
          </a:xfrm>
          <a:prstGeom prst="roundRect">
            <a:avLst>
              <a:gd name="adj" fmla="val 6780"/>
            </a:avLst>
          </a:prstGeom>
          <a:solidFill>
            <a:srgbClr val="FDEDE2"/>
          </a:solidFill>
          <a:ln/>
        </p:spPr>
      </p:sp>
      <p:sp>
        <p:nvSpPr>
          <p:cNvPr id="21" name="Shape 19"/>
          <p:cNvSpPr/>
          <p:nvPr/>
        </p:nvSpPr>
        <p:spPr>
          <a:xfrm>
            <a:off x="777240" y="3749040"/>
            <a:ext cx="402336" cy="402336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567" y="3805367"/>
            <a:ext cx="289682" cy="289682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1298448" y="3566160"/>
            <a:ext cx="7086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endereçável.  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A4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160 mil oficinas pagassem R$ 149/mês, o TAM brasileiro é de </a:t>
            </a:r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R$ 286 milhões por ano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A4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Capturar 1% em 3 anos = R$ 2,9 mi de ARR — com ticket que cabe no bolso do reparador.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548640" y="47091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7863840" y="4709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AGORA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janela abriu — e fecha rápido.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2560320" cy="2487168"/>
          </a:xfrm>
          <a:prstGeom prst="roundRect">
            <a:avLst>
              <a:gd name="adj" fmla="val 3676"/>
            </a:avLst>
          </a:prstGeom>
          <a:solidFill>
            <a:srgbClr val="242A31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1783080"/>
            <a:ext cx="512064" cy="512064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61" y="1854769"/>
            <a:ext cx="368686" cy="36868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24505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Frota envelhecendo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04672" y="2798064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A8B1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Quase 11 anos de idade média. Cada ano a mais é uma revisão a mais na baia do independente — o volume vem, o controle não.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73552" y="1536192"/>
            <a:ext cx="2560320" cy="2487168"/>
          </a:xfrm>
          <a:prstGeom prst="roundRect">
            <a:avLst>
              <a:gd name="adj" fmla="val 3676"/>
            </a:avLst>
          </a:prstGeom>
          <a:solidFill>
            <a:srgbClr val="242A31"/>
          </a:solidFill>
          <a:ln/>
        </p:spPr>
      </p:sp>
      <p:sp>
        <p:nvSpPr>
          <p:cNvPr id="10" name="Shape 7"/>
          <p:cNvSpPr/>
          <p:nvPr/>
        </p:nvSpPr>
        <p:spPr>
          <a:xfrm>
            <a:off x="3529584" y="1783080"/>
            <a:ext cx="512064" cy="512064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1273" y="1854769"/>
            <a:ext cx="368686" cy="36868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29584" y="24505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Fisco digital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3529584" y="2798064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A8B1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NFS-e nacional, NFC-e, split de pagamento. Quem emite nota no bloquinho vai ser empurrado para o software, queira ou não.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998464" y="1536192"/>
            <a:ext cx="2560320" cy="2487168"/>
          </a:xfrm>
          <a:prstGeom prst="roundRect">
            <a:avLst>
              <a:gd name="adj" fmla="val 3676"/>
            </a:avLst>
          </a:prstGeom>
          <a:solidFill>
            <a:srgbClr val="242A31"/>
          </a:solidFill>
          <a:ln/>
        </p:spPr>
      </p:sp>
      <p:sp>
        <p:nvSpPr>
          <p:cNvPr id="15" name="Shape 11"/>
          <p:cNvSpPr/>
          <p:nvPr/>
        </p:nvSpPr>
        <p:spPr>
          <a:xfrm>
            <a:off x="6254496" y="1783080"/>
            <a:ext cx="512064" cy="512064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6185" y="1854769"/>
            <a:ext cx="368686" cy="36868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54496" y="24505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Mecânico já é digital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6254496" y="2798064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A8B1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Pix, WhatsApp Business e Google Maps já entraram na oficina. A resistência não é ao celular — é a sistemas feitos para escritório.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548640" y="422452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sistemas existentes foram desenhados para a oficina de 12 baias. Ninguém desenhou para a de duas.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548640" y="47091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7863840" y="4709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9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Torque: a oficina inteira em uma tela.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3977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ERP enxuto, mobile-first, que o mecânico usa com a mão suja e o dono acompanha do sofá. Cadastra a placa, fotografa o problema, manda o orçamento no WhatsApp, recebe o aceite com um clique — e o estoque, o caixa e a nota se resolvem sozinhos.</a:t>
            </a:r>
            <a:endParaRPr lang="en-US" sz="13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935224"/>
            <a:ext cx="182880" cy="1828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8680" y="290779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digitação: placa puxa marca, modelo e ano</a:t>
            </a:r>
            <a:endParaRPr lang="en-US" sz="11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319272"/>
            <a:ext cx="182880" cy="1828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68680" y="32918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Aprovação de orçamento registrada, com hora e IP</a:t>
            </a:r>
            <a:endParaRPr lang="en-US" sz="11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703320"/>
            <a:ext cx="182880" cy="18288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68680" y="36758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offline — sincroniza quando a internet volta</a:t>
            </a:r>
            <a:endParaRPr lang="en-US" sz="11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4087368"/>
            <a:ext cx="182880" cy="18288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868680" y="405993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Implantação em 1 dia, sem consultor</a:t>
            </a:r>
            <a:endParaRPr lang="en-US" sz="1100" dirty="0"/>
          </a:p>
        </p:txBody>
      </p:sp>
      <p:sp>
        <p:nvSpPr>
          <p:cNvPr id="13" name="Shape 7"/>
          <p:cNvSpPr/>
          <p:nvPr/>
        </p:nvSpPr>
        <p:spPr>
          <a:xfrm>
            <a:off x="4892040" y="1298448"/>
            <a:ext cx="3703320" cy="3200400"/>
          </a:xfrm>
          <a:prstGeom prst="roundRect">
            <a:avLst>
              <a:gd name="adj" fmla="val 3429"/>
            </a:avLst>
          </a:prstGeom>
          <a:solidFill>
            <a:srgbClr val="16191D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Text 8"/>
          <p:cNvSpPr/>
          <p:nvPr/>
        </p:nvSpPr>
        <p:spPr>
          <a:xfrm>
            <a:off x="5120640" y="148132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#1042</a:t>
            </a:r>
            <a:endParaRPr lang="en-US" sz="1300" dirty="0"/>
          </a:p>
        </p:txBody>
      </p:sp>
      <p:sp>
        <p:nvSpPr>
          <p:cNvPr id="15" name="Shape 9"/>
          <p:cNvSpPr/>
          <p:nvPr/>
        </p:nvSpPr>
        <p:spPr>
          <a:xfrm>
            <a:off x="7059168" y="1490472"/>
            <a:ext cx="1298448" cy="265176"/>
          </a:xfrm>
          <a:prstGeom prst="roundRect">
            <a:avLst>
              <a:gd name="adj" fmla="val 48276"/>
            </a:avLst>
          </a:prstGeom>
          <a:solidFill>
            <a:srgbClr val="F26522"/>
          </a:solidFill>
          <a:ln/>
        </p:spPr>
      </p:sp>
      <p:sp>
        <p:nvSpPr>
          <p:cNvPr id="16" name="Text 10"/>
          <p:cNvSpPr/>
          <p:nvPr/>
        </p:nvSpPr>
        <p:spPr>
          <a:xfrm>
            <a:off x="7059168" y="1490472"/>
            <a:ext cx="12984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EXECUÇÃO</a:t>
            </a:r>
            <a:endParaRPr lang="en-US" sz="750" dirty="0"/>
          </a:p>
        </p:txBody>
      </p:sp>
      <p:sp>
        <p:nvSpPr>
          <p:cNvPr id="17" name="Text 11"/>
          <p:cNvSpPr/>
          <p:nvPr/>
        </p:nvSpPr>
        <p:spPr>
          <a:xfrm>
            <a:off x="5120640" y="181051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RQP-4C18  ·  Gol 1.6  ·  2014  ·  128.400 km</a:t>
            </a:r>
            <a:endParaRPr lang="en-US" sz="950" dirty="0"/>
          </a:p>
        </p:txBody>
      </p:sp>
      <p:sp>
        <p:nvSpPr>
          <p:cNvPr id="18" name="Shape 12"/>
          <p:cNvSpPr/>
          <p:nvPr/>
        </p:nvSpPr>
        <p:spPr>
          <a:xfrm>
            <a:off x="5120640" y="2240280"/>
            <a:ext cx="3246120" cy="384048"/>
          </a:xfrm>
          <a:prstGeom prst="roundRect">
            <a:avLst>
              <a:gd name="adj" fmla="val 14286"/>
            </a:avLst>
          </a:prstGeom>
          <a:solidFill>
            <a:srgbClr val="242A31"/>
          </a:solidFill>
          <a:ln/>
        </p:spPr>
      </p:sp>
      <p:sp>
        <p:nvSpPr>
          <p:cNvPr id="19" name="Text 13"/>
          <p:cNvSpPr/>
          <p:nvPr/>
        </p:nvSpPr>
        <p:spPr>
          <a:xfrm>
            <a:off x="5257800" y="224028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3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Pastilha de freio diant. (par)</a:t>
            </a:r>
            <a:endParaRPr lang="en-US" sz="950" dirty="0"/>
          </a:p>
        </p:txBody>
      </p:sp>
      <p:sp>
        <p:nvSpPr>
          <p:cNvPr id="20" name="Text 14"/>
          <p:cNvSpPr/>
          <p:nvPr/>
        </p:nvSpPr>
        <p:spPr>
          <a:xfrm>
            <a:off x="7315200" y="224028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R$ 189,00</a:t>
            </a:r>
            <a:endParaRPr lang="en-US" sz="950" dirty="0"/>
          </a:p>
        </p:txBody>
      </p:sp>
      <p:sp>
        <p:nvSpPr>
          <p:cNvPr id="21" name="Shape 15"/>
          <p:cNvSpPr/>
          <p:nvPr/>
        </p:nvSpPr>
        <p:spPr>
          <a:xfrm>
            <a:off x="5120640" y="2715768"/>
            <a:ext cx="3246120" cy="384048"/>
          </a:xfrm>
          <a:prstGeom prst="roundRect">
            <a:avLst>
              <a:gd name="adj" fmla="val 14286"/>
            </a:avLst>
          </a:prstGeom>
          <a:solidFill>
            <a:srgbClr val="242A31"/>
          </a:solidFill>
          <a:ln/>
        </p:spPr>
      </p:sp>
      <p:sp>
        <p:nvSpPr>
          <p:cNvPr id="22" name="Text 16"/>
          <p:cNvSpPr/>
          <p:nvPr/>
        </p:nvSpPr>
        <p:spPr>
          <a:xfrm>
            <a:off x="5257800" y="271576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3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 ventilado</a:t>
            </a:r>
            <a:endParaRPr lang="en-US" sz="950" dirty="0"/>
          </a:p>
        </p:txBody>
      </p:sp>
      <p:sp>
        <p:nvSpPr>
          <p:cNvPr id="23" name="Text 17"/>
          <p:cNvSpPr/>
          <p:nvPr/>
        </p:nvSpPr>
        <p:spPr>
          <a:xfrm>
            <a:off x="7315200" y="271576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R$ 320,00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5120640" y="3191256"/>
            <a:ext cx="3246120" cy="384048"/>
          </a:xfrm>
          <a:prstGeom prst="roundRect">
            <a:avLst>
              <a:gd name="adj" fmla="val 14286"/>
            </a:avLst>
          </a:prstGeom>
          <a:solidFill>
            <a:srgbClr val="242A31"/>
          </a:solidFill>
          <a:ln/>
        </p:spPr>
      </p:sp>
      <p:sp>
        <p:nvSpPr>
          <p:cNvPr id="25" name="Text 19"/>
          <p:cNvSpPr/>
          <p:nvPr/>
        </p:nvSpPr>
        <p:spPr>
          <a:xfrm>
            <a:off x="5257800" y="3191256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3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 de obra — 1,5 h</a:t>
            </a:r>
            <a:endParaRPr lang="en-US" sz="950" dirty="0"/>
          </a:p>
        </p:txBody>
      </p:sp>
      <p:sp>
        <p:nvSpPr>
          <p:cNvPr id="26" name="Text 20"/>
          <p:cNvSpPr/>
          <p:nvPr/>
        </p:nvSpPr>
        <p:spPr>
          <a:xfrm>
            <a:off x="7315200" y="319125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R$ 225,00</a:t>
            </a:r>
            <a:endParaRPr lang="en-US" sz="950" dirty="0"/>
          </a:p>
        </p:txBody>
      </p:sp>
      <p:sp>
        <p:nvSpPr>
          <p:cNvPr id="27" name="Text 21"/>
          <p:cNvSpPr/>
          <p:nvPr/>
        </p:nvSpPr>
        <p:spPr>
          <a:xfrm>
            <a:off x="5120640" y="371246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1050" dirty="0"/>
          </a:p>
        </p:txBody>
      </p:sp>
      <p:sp>
        <p:nvSpPr>
          <p:cNvPr id="28" name="Text 22"/>
          <p:cNvSpPr/>
          <p:nvPr/>
        </p:nvSpPr>
        <p:spPr>
          <a:xfrm>
            <a:off x="667512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265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R$ 734,00</a:t>
            </a:r>
            <a:endParaRPr lang="en-US" sz="2000" dirty="0"/>
          </a:p>
        </p:txBody>
      </p:sp>
      <p:sp>
        <p:nvSpPr>
          <p:cNvPr id="29" name="Shape 23"/>
          <p:cNvSpPr/>
          <p:nvPr/>
        </p:nvSpPr>
        <p:spPr>
          <a:xfrm>
            <a:off x="5120640" y="4096512"/>
            <a:ext cx="3246120" cy="292608"/>
          </a:xfrm>
          <a:prstGeom prst="roundRect">
            <a:avLst>
              <a:gd name="adj" fmla="val 18750"/>
            </a:avLst>
          </a:prstGeom>
          <a:solidFill>
            <a:srgbClr val="1F7A6B"/>
          </a:solidFill>
          <a:ln/>
        </p:spPr>
      </p:sp>
      <p:sp>
        <p:nvSpPr>
          <p:cNvPr id="30" name="Text 24"/>
          <p:cNvSpPr/>
          <p:nvPr/>
        </p:nvSpPr>
        <p:spPr>
          <a:xfrm>
            <a:off x="5120640" y="4096512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 pelo cliente no WhatsApp · 14:32</a:t>
            </a:r>
            <a:endParaRPr lang="en-US" sz="850" dirty="0"/>
          </a:p>
        </p:txBody>
      </p:sp>
      <p:sp>
        <p:nvSpPr>
          <p:cNvPr id="31" name="Text 25"/>
          <p:cNvSpPr/>
          <p:nvPr/>
        </p:nvSpPr>
        <p:spPr>
          <a:xfrm>
            <a:off x="548640" y="47091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</a:t>
            </a:r>
            <a:endParaRPr lang="en-US" sz="900" dirty="0"/>
          </a:p>
        </p:txBody>
      </p:sp>
      <p:sp>
        <p:nvSpPr>
          <p:cNvPr id="32" name="Text 26"/>
          <p:cNvSpPr/>
          <p:nvPr/>
        </p:nvSpPr>
        <p:spPr>
          <a:xfrm>
            <a:off x="7863840" y="4709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3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9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Do portão ao Pix, em cinco toques.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1508760" cy="228600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94944" y="1737360"/>
            <a:ext cx="457200" cy="457200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180136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73736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CE1E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94944" y="230428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9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Entrada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94944" y="2606040"/>
            <a:ext cx="1234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Bipa a placa. Ficha do veículo e histórico aparecem prontos.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112264" y="1965960"/>
            <a:ext cx="128016" cy="0"/>
          </a:xfrm>
          <a:prstGeom prst="line">
            <a:avLst/>
          </a:prstGeom>
          <a:noFill/>
          <a:ln w="31750">
            <a:solidFill>
              <a:srgbClr val="F2652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185416" y="1572768"/>
            <a:ext cx="1508760" cy="228600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331720" y="1737360"/>
            <a:ext cx="457200" cy="457200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28" y="1801368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054096" y="173736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CE1E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2331720" y="230428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9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Diagnóstico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2331720" y="2606040"/>
            <a:ext cx="1234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 e vídeo do defeito anexados à OS. Checklist de 12 itens.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3749040" y="1965960"/>
            <a:ext cx="128016" cy="0"/>
          </a:xfrm>
          <a:prstGeom prst="line">
            <a:avLst/>
          </a:prstGeom>
          <a:noFill/>
          <a:ln w="31750">
            <a:solidFill>
              <a:srgbClr val="F26522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3822192" y="1572768"/>
            <a:ext cx="1508760" cy="228600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3968496" y="1737360"/>
            <a:ext cx="457200" cy="457200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2504" y="1801368"/>
            <a:ext cx="329184" cy="329184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690872" y="173736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CE1E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03</a:t>
            </a:r>
            <a:endParaRPr lang="en-US" sz="2000" dirty="0"/>
          </a:p>
        </p:txBody>
      </p:sp>
      <p:sp>
        <p:nvSpPr>
          <p:cNvPr id="22" name="Text 17"/>
          <p:cNvSpPr/>
          <p:nvPr/>
        </p:nvSpPr>
        <p:spPr>
          <a:xfrm>
            <a:off x="3968496" y="230428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9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Orçamento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3968496" y="2606040"/>
            <a:ext cx="1234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Enviado e aprovado pelo WhatsApp, com registro legal do aceite.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5385816" y="1965960"/>
            <a:ext cx="128016" cy="0"/>
          </a:xfrm>
          <a:prstGeom prst="line">
            <a:avLst/>
          </a:prstGeom>
          <a:noFill/>
          <a:ln w="31750">
            <a:solidFill>
              <a:srgbClr val="F26522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5458968" y="1572768"/>
            <a:ext cx="1508760" cy="228600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5605272" y="1737360"/>
            <a:ext cx="457200" cy="457200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1801368"/>
            <a:ext cx="329184" cy="329184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6327648" y="173736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CE1E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04</a:t>
            </a:r>
            <a:endParaRPr lang="en-US" sz="2000" dirty="0"/>
          </a:p>
        </p:txBody>
      </p:sp>
      <p:sp>
        <p:nvSpPr>
          <p:cNvPr id="29" name="Text 23"/>
          <p:cNvSpPr/>
          <p:nvPr/>
        </p:nvSpPr>
        <p:spPr>
          <a:xfrm>
            <a:off x="5605272" y="230428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9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Execução</a:t>
            </a:r>
            <a:endParaRPr lang="en-US" sz="1250" dirty="0"/>
          </a:p>
        </p:txBody>
      </p:sp>
      <p:sp>
        <p:nvSpPr>
          <p:cNvPr id="30" name="Text 24"/>
          <p:cNvSpPr/>
          <p:nvPr/>
        </p:nvSpPr>
        <p:spPr>
          <a:xfrm>
            <a:off x="5605272" y="2606040"/>
            <a:ext cx="1234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 baixa do estoque. Mecânico aponta hora trabalhada.</a:t>
            </a:r>
            <a:endParaRPr lang="en-US" sz="900" dirty="0"/>
          </a:p>
        </p:txBody>
      </p:sp>
      <p:sp>
        <p:nvSpPr>
          <p:cNvPr id="31" name="Shape 25"/>
          <p:cNvSpPr/>
          <p:nvPr/>
        </p:nvSpPr>
        <p:spPr>
          <a:xfrm>
            <a:off x="7022592" y="1965960"/>
            <a:ext cx="128016" cy="0"/>
          </a:xfrm>
          <a:prstGeom prst="line">
            <a:avLst/>
          </a:prstGeom>
          <a:noFill/>
          <a:ln w="31750">
            <a:solidFill>
              <a:srgbClr val="F26522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7095744" y="1572768"/>
            <a:ext cx="1508760" cy="228600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7242048" y="1737360"/>
            <a:ext cx="457200" cy="457200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6056" y="1801368"/>
            <a:ext cx="329184" cy="329184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7964424" y="173736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CE1E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05</a:t>
            </a:r>
            <a:endParaRPr lang="en-US" sz="2000" dirty="0"/>
          </a:p>
        </p:txBody>
      </p:sp>
      <p:sp>
        <p:nvSpPr>
          <p:cNvPr id="36" name="Text 29"/>
          <p:cNvSpPr/>
          <p:nvPr/>
        </p:nvSpPr>
        <p:spPr>
          <a:xfrm>
            <a:off x="7242048" y="230428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9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Entrega</a:t>
            </a:r>
            <a:endParaRPr lang="en-US" sz="1250" dirty="0"/>
          </a:p>
        </p:txBody>
      </p:sp>
      <p:sp>
        <p:nvSpPr>
          <p:cNvPr id="37" name="Text 30"/>
          <p:cNvSpPr/>
          <p:nvPr/>
        </p:nvSpPr>
        <p:spPr>
          <a:xfrm>
            <a:off x="7242048" y="2606040"/>
            <a:ext cx="1234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emitida, Pix na hora, retorno agendado em 6 meses.</a:t>
            </a:r>
            <a:endParaRPr lang="en-US" sz="900" dirty="0"/>
          </a:p>
        </p:txBody>
      </p:sp>
      <p:sp>
        <p:nvSpPr>
          <p:cNvPr id="38" name="Shape 31"/>
          <p:cNvSpPr/>
          <p:nvPr/>
        </p:nvSpPr>
        <p:spPr>
          <a:xfrm>
            <a:off x="548640" y="4041648"/>
            <a:ext cx="80467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</p:spPr>
      </p:sp>
      <p:sp>
        <p:nvSpPr>
          <p:cNvPr id="39" name="Text 32"/>
          <p:cNvSpPr/>
          <p:nvPr/>
        </p:nvSpPr>
        <p:spPr>
          <a:xfrm>
            <a:off x="822960" y="404164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passo exige sair da tela da OS. </a:t>
            </a:r>
            <a:pPr indent="0" marL="0">
              <a:buNone/>
            </a:pPr>
            <a:r>
              <a:rPr lang="en-US" sz="11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Estoque, financeiro e CRM são consequência do trabalho, não trabalho a mais.</a:t>
            </a:r>
            <a:endParaRPr lang="en-US" sz="1150" dirty="0"/>
          </a:p>
        </p:txBody>
      </p:sp>
      <p:sp>
        <p:nvSpPr>
          <p:cNvPr id="40" name="Text 33"/>
          <p:cNvSpPr/>
          <p:nvPr/>
        </p:nvSpPr>
        <p:spPr>
          <a:xfrm>
            <a:off x="548640" y="47091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</a:t>
            </a:r>
            <a:endParaRPr lang="en-US" sz="900" dirty="0"/>
          </a:p>
        </p:txBody>
      </p:sp>
      <p:sp>
        <p:nvSpPr>
          <p:cNvPr id="41" name="Text 34"/>
          <p:cNvSpPr/>
          <p:nvPr/>
        </p:nvSpPr>
        <p:spPr>
          <a:xfrm>
            <a:off x="7863840" y="4709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9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Seis módulos. Um preço.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560320" cy="1389888"/>
          </a:xfrm>
          <a:prstGeom prst="roundRect">
            <a:avLst>
              <a:gd name="adj" fmla="val 5921"/>
            </a:avLst>
          </a:prstGeom>
          <a:solidFill>
            <a:srgbClr val="F1F3F5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64208"/>
            <a:ext cx="420624" cy="420624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8695" y="1723095"/>
            <a:ext cx="302849" cy="30284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682496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9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Ordem de serviço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49808" y="2176272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digital com foto, checklist, garantia de peça e histórico por placa.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3291840" y="1463040"/>
            <a:ext cx="2560320" cy="1389888"/>
          </a:xfrm>
          <a:prstGeom prst="roundRect">
            <a:avLst>
              <a:gd name="adj" fmla="val 5921"/>
            </a:avLst>
          </a:prstGeom>
          <a:solidFill>
            <a:srgbClr val="F1F3F5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493008" y="1664208"/>
            <a:ext cx="420624" cy="420624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1895" y="1723095"/>
            <a:ext cx="302849" cy="30284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023360" y="1682496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9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Estoque de peças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3493008" y="2176272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 automática, estoque mínimo, cotação com três fornecedores.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6035040" y="1463040"/>
            <a:ext cx="2560320" cy="1389888"/>
          </a:xfrm>
          <a:prstGeom prst="roundRect">
            <a:avLst>
              <a:gd name="adj" fmla="val 5921"/>
            </a:avLst>
          </a:prstGeom>
          <a:solidFill>
            <a:srgbClr val="F1F3F5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236208" y="1664208"/>
            <a:ext cx="420624" cy="420624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5095" y="1723095"/>
            <a:ext cx="302849" cy="30284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766560" y="1682496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9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Financeiro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6236208" y="2176272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Caixa, contas a pagar/receber, margem por serviço e por mecânico.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548640" y="3035808"/>
            <a:ext cx="2560320" cy="1389888"/>
          </a:xfrm>
          <a:prstGeom prst="roundRect">
            <a:avLst>
              <a:gd name="adj" fmla="val 5921"/>
            </a:avLst>
          </a:prstGeom>
          <a:solidFill>
            <a:srgbClr val="F1F3F5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49808" y="3236976"/>
            <a:ext cx="420624" cy="420624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695" y="3295863"/>
            <a:ext cx="302849" cy="302849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280160" y="325526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9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Fiscal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749808" y="374904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NFS-e, NFC-e e conciliação de maquininha sem contador no meio.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3291840" y="3035808"/>
            <a:ext cx="2560320" cy="1389888"/>
          </a:xfrm>
          <a:prstGeom prst="roundRect">
            <a:avLst>
              <a:gd name="adj" fmla="val 5921"/>
            </a:avLst>
          </a:prstGeom>
          <a:solidFill>
            <a:srgbClr val="F1F3F5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3493008" y="3236976"/>
            <a:ext cx="420624" cy="420624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1895" y="3295863"/>
            <a:ext cx="302849" cy="302849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023360" y="325526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9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CRM &amp; retorno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3493008" y="374904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Lembrete de revisão, troca de óleo e aniversário do carro.</a:t>
            </a:r>
            <a:endParaRPr lang="en-US" sz="950" dirty="0"/>
          </a:p>
        </p:txBody>
      </p:sp>
      <p:sp>
        <p:nvSpPr>
          <p:cNvPr id="29" name="Shape 22"/>
          <p:cNvSpPr/>
          <p:nvPr/>
        </p:nvSpPr>
        <p:spPr>
          <a:xfrm>
            <a:off x="6035040" y="3035808"/>
            <a:ext cx="2560320" cy="1389888"/>
          </a:xfrm>
          <a:prstGeom prst="roundRect">
            <a:avLst>
              <a:gd name="adj" fmla="val 5921"/>
            </a:avLst>
          </a:prstGeom>
          <a:solidFill>
            <a:srgbClr val="F1F3F5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236208" y="3236976"/>
            <a:ext cx="420624" cy="420624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5095" y="3295863"/>
            <a:ext cx="302849" cy="302849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766560" y="325526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9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Painel do dono</a:t>
            </a:r>
            <a:endParaRPr lang="en-US" sz="1250" dirty="0"/>
          </a:p>
        </p:txBody>
      </p:sp>
      <p:sp>
        <p:nvSpPr>
          <p:cNvPr id="33" name="Text 25"/>
          <p:cNvSpPr/>
          <p:nvPr/>
        </p:nvSpPr>
        <p:spPr>
          <a:xfrm>
            <a:off x="6236208" y="374904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Quantos carros na baia, quanto entrou hoje, o que está travado.</a:t>
            </a:r>
            <a:endParaRPr lang="en-US" sz="950" dirty="0"/>
          </a:p>
        </p:txBody>
      </p:sp>
      <p:sp>
        <p:nvSpPr>
          <p:cNvPr id="34" name="Text 26"/>
          <p:cNvSpPr/>
          <p:nvPr/>
        </p:nvSpPr>
        <p:spPr>
          <a:xfrm>
            <a:off x="548640" y="46268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venda casada de módulo. Sem taxa de implantação. Sem fidelidade.</a:t>
            </a:r>
            <a:endParaRPr lang="en-US" sz="1050" dirty="0"/>
          </a:p>
        </p:txBody>
      </p:sp>
      <p:sp>
        <p:nvSpPr>
          <p:cNvPr id="35" name="Text 27"/>
          <p:cNvSpPr/>
          <p:nvPr/>
        </p:nvSpPr>
        <p:spPr>
          <a:xfrm>
            <a:off x="548640" y="47091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7863840" y="4709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DIFERENCIAIS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9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Por que o sistema anterior foi abandonado.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maior concorrente não é outro ERP. É o caderno — porque o software que a oficina tentou usar era pesado demais para o dia a dia dela.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931920" cy="2606040"/>
          </a:xfrm>
          <a:prstGeom prst="roundRect">
            <a:avLst>
              <a:gd name="adj" fmla="val 3509"/>
            </a:avLst>
          </a:prstGeom>
          <a:solidFill>
            <a:srgbClr val="F1F3F5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99339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B959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ERP tradicional de oficina</a:t>
            </a:r>
            <a:endParaRPr lang="en-US" sz="135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459736"/>
            <a:ext cx="173736" cy="1737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15568" y="243230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Feito para desktop no escritório</a:t>
            </a:r>
            <a:endParaRPr lang="en-US" sz="10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825496"/>
            <a:ext cx="173736" cy="17373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15568" y="279806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Implantação de semanas, com consultor</a:t>
            </a:r>
            <a:endParaRPr lang="en-US" sz="105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191256"/>
            <a:ext cx="173736" cy="17373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15568" y="316382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vendidos separados, R$ 289–499/mês</a:t>
            </a:r>
            <a:endParaRPr lang="en-US" sz="105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557016"/>
            <a:ext cx="173736" cy="173736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115568" y="352958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 longo — o mecânico desiste</a:t>
            </a:r>
            <a:endParaRPr lang="en-US" sz="105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922776"/>
            <a:ext cx="173736" cy="173736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115568" y="389534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 sem internet</a:t>
            </a:r>
            <a:endParaRPr lang="en-US" sz="1050" dirty="0"/>
          </a:p>
        </p:txBody>
      </p:sp>
      <p:sp>
        <p:nvSpPr>
          <p:cNvPr id="17" name="Shape 10"/>
          <p:cNvSpPr/>
          <p:nvPr/>
        </p:nvSpPr>
        <p:spPr>
          <a:xfrm>
            <a:off x="4663440" y="1828800"/>
            <a:ext cx="3931920" cy="2606040"/>
          </a:xfrm>
          <a:prstGeom prst="roundRect">
            <a:avLst>
              <a:gd name="adj" fmla="val 3509"/>
            </a:avLst>
          </a:prstGeom>
          <a:solidFill>
            <a:srgbClr val="16191D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8" name="Text 11"/>
          <p:cNvSpPr/>
          <p:nvPr/>
        </p:nvSpPr>
        <p:spPr>
          <a:xfrm>
            <a:off x="4919472" y="199339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65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Torque</a:t>
            </a:r>
            <a:endParaRPr lang="en-US" sz="135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2459736"/>
            <a:ext cx="173736" cy="173736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5230368" y="243230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DE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 — nasce no celular da baia</a:t>
            </a:r>
            <a:endParaRPr lang="en-US" sz="1050" dirty="0"/>
          </a:p>
        </p:txBody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37760" y="2825496"/>
            <a:ext cx="173736" cy="173736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5230368" y="279806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DE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ar no primeiro dia, sozinho</a:t>
            </a:r>
            <a:endParaRPr lang="en-US" sz="1050" dirty="0"/>
          </a:p>
        </p:txBody>
      </p:sp>
      <p:pic>
        <p:nvPicPr>
          <p:cNvPr id="2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37760" y="3191256"/>
            <a:ext cx="173736" cy="173736"/>
          </a:xfrm>
          <a:prstGeom prst="rect">
            <a:avLst/>
          </a:prstGeom>
        </p:spPr>
      </p:pic>
      <p:sp>
        <p:nvSpPr>
          <p:cNvPr id="24" name="Text 14"/>
          <p:cNvSpPr/>
          <p:nvPr/>
        </p:nvSpPr>
        <p:spPr>
          <a:xfrm>
            <a:off x="5230368" y="316382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DE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incluso por R$ 149/mês</a:t>
            </a:r>
            <a:endParaRPr lang="en-US" sz="1050" dirty="0"/>
          </a:p>
        </p:txBody>
      </p:sp>
      <p:pic>
        <p:nvPicPr>
          <p:cNvPr id="2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37760" y="3557016"/>
            <a:ext cx="173736" cy="173736"/>
          </a:xfrm>
          <a:prstGeom prst="rect">
            <a:avLst/>
          </a:prstGeom>
        </p:spPr>
      </p:pic>
      <p:sp>
        <p:nvSpPr>
          <p:cNvPr id="26" name="Text 15"/>
          <p:cNvSpPr/>
          <p:nvPr/>
        </p:nvSpPr>
        <p:spPr>
          <a:xfrm>
            <a:off x="5230368" y="352958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DE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treinamento: 6 telas no total</a:t>
            </a:r>
            <a:endParaRPr lang="en-US" sz="1050" dirty="0"/>
          </a:p>
        </p:txBody>
      </p:sp>
      <p:pic>
        <p:nvPicPr>
          <p:cNvPr id="2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37760" y="3922776"/>
            <a:ext cx="173736" cy="173736"/>
          </a:xfrm>
          <a:prstGeom prst="rect">
            <a:avLst/>
          </a:prstGeom>
        </p:spPr>
      </p:pic>
      <p:sp>
        <p:nvSpPr>
          <p:cNvPr id="28" name="Text 16"/>
          <p:cNvSpPr/>
          <p:nvPr/>
        </p:nvSpPr>
        <p:spPr>
          <a:xfrm>
            <a:off x="5230368" y="389534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DE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Offline-first, sincroniza depois</a:t>
            </a:r>
            <a:endParaRPr lang="en-US" sz="1050" dirty="0"/>
          </a:p>
        </p:txBody>
      </p:sp>
      <p:sp>
        <p:nvSpPr>
          <p:cNvPr id="29" name="Text 17"/>
          <p:cNvSpPr/>
          <p:nvPr/>
        </p:nvSpPr>
        <p:spPr>
          <a:xfrm>
            <a:off x="548640" y="47091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</a:t>
            </a:r>
            <a:endParaRPr lang="en-US" sz="900" dirty="0"/>
          </a:p>
        </p:txBody>
      </p:sp>
      <p:sp>
        <p:nvSpPr>
          <p:cNvPr id="30" name="Text 18"/>
          <p:cNvSpPr/>
          <p:nvPr/>
        </p:nvSpPr>
        <p:spPr>
          <a:xfrm>
            <a:off x="7863840" y="4709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9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 que muda numa oficina de duas baias.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63040"/>
          <a:ext cx="4892040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46227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A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Índice, base 100 = melhor cenário. Projeção com base em benchmarks do setor.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5623560" y="1517904"/>
            <a:ext cx="2971800" cy="932688"/>
          </a:xfrm>
          <a:prstGeom prst="roundRect">
            <a:avLst>
              <a:gd name="adj" fmla="val 7843"/>
            </a:avLst>
          </a:prstGeom>
          <a:solidFill>
            <a:srgbClr val="FDEDE2"/>
          </a:solidFill>
          <a:ln/>
        </p:spPr>
      </p:sp>
      <p:sp>
        <p:nvSpPr>
          <p:cNvPr id="7" name="Text 4"/>
          <p:cNvSpPr/>
          <p:nvPr/>
        </p:nvSpPr>
        <p:spPr>
          <a:xfrm>
            <a:off x="5806440" y="1609344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65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+38%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784848" y="16276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faturamento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5806440" y="2020824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5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um cliente novo: só cobrando a mão de obra que já era feita de graça.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623560" y="2560320"/>
            <a:ext cx="2971800" cy="932688"/>
          </a:xfrm>
          <a:prstGeom prst="roundRect">
            <a:avLst>
              <a:gd name="adj" fmla="val 7843"/>
            </a:avLst>
          </a:prstGeom>
          <a:solidFill>
            <a:srgbClr val="FDEDE2"/>
          </a:solidFill>
          <a:ln/>
        </p:spPr>
      </p:sp>
      <p:sp>
        <p:nvSpPr>
          <p:cNvPr id="11" name="Text 8"/>
          <p:cNvSpPr/>
          <p:nvPr/>
        </p:nvSpPr>
        <p:spPr>
          <a:xfrm>
            <a:off x="5806440" y="265176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65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-78%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784848" y="267004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peça duplicada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806440" y="306324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5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 real acaba com a compra por desencargo de consciência.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5623560" y="3602736"/>
            <a:ext cx="2971800" cy="932688"/>
          </a:xfrm>
          <a:prstGeom prst="roundRect">
            <a:avLst>
              <a:gd name="adj" fmla="val 7843"/>
            </a:avLst>
          </a:prstGeom>
          <a:solidFill>
            <a:srgbClr val="FDEDE2"/>
          </a:solidFill>
          <a:ln/>
        </p:spPr>
      </p:sp>
      <p:sp>
        <p:nvSpPr>
          <p:cNvPr id="15" name="Text 12"/>
          <p:cNvSpPr/>
          <p:nvPr/>
        </p:nvSpPr>
        <p:spPr>
          <a:xfrm>
            <a:off x="5806440" y="3694176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65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90 dias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784848" y="371246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19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 payback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5806440" y="4105656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5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custa menos que uma troca de embreagem por mês.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548640" y="47091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7863840" y="4709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Preço de oficina, não de software.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2560320" cy="2880360"/>
          </a:xfrm>
          <a:prstGeom prst="roundRect">
            <a:avLst>
              <a:gd name="adj" fmla="val 4286"/>
            </a:avLst>
          </a:prstGeom>
          <a:solidFill>
            <a:srgbClr val="242A31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645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Baia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198424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R$ 79</a:t>
            </a:r>
            <a:pPr indent="0" marL="0">
              <a:buNone/>
            </a:pPr>
            <a:r>
              <a:rPr lang="en-US" sz="1050" dirty="0">
                <a:solidFill>
                  <a:srgbClr val="9A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/mês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77240" y="2441448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 e oficina solo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77240" y="277977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2C9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usuário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77240" y="305409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2C9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ilimitada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332841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2C9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 e caixa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77240" y="360273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2C9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 no WhatsApp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73552" y="1371600"/>
            <a:ext cx="2560320" cy="3108960"/>
          </a:xfrm>
          <a:prstGeom prst="roundRect">
            <a:avLst>
              <a:gd name="adj" fmla="val 4286"/>
            </a:avLst>
          </a:prstGeom>
          <a:solidFill>
            <a:srgbClr val="F26522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90872" y="1554480"/>
            <a:ext cx="9601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VENDIDO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502152" y="15361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Oficina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502152" y="1874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R$ 149</a:t>
            </a:r>
            <a:pPr indent="0" marL="0">
              <a:buNone/>
            </a:pPr>
            <a:r>
              <a:rPr lang="en-US" sz="1050" dirty="0">
                <a:solidFill>
                  <a:srgbClr val="FFE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/mês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3502152" y="233172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E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 6 mecânicos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502152" y="267004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Usuários ilimitados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502152" y="294436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do Baia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502152" y="321868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Fiscal (NFS-e/NFC-e)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502152" y="349300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e retorno automático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502152" y="376732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do dono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998464" y="1481328"/>
            <a:ext cx="2560320" cy="2880360"/>
          </a:xfrm>
          <a:prstGeom prst="roundRect">
            <a:avLst>
              <a:gd name="adj" fmla="val 4286"/>
            </a:avLst>
          </a:prstGeom>
          <a:solidFill>
            <a:srgbClr val="242A31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227064" y="1645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Rede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227064" y="198424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R$ 349</a:t>
            </a:r>
            <a:pPr indent="0" marL="0">
              <a:buNone/>
            </a:pPr>
            <a:r>
              <a:rPr lang="en-US" sz="1050" dirty="0">
                <a:solidFill>
                  <a:srgbClr val="9A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/mês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6227064" y="2441448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múltiplas unidades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227064" y="277977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2C9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do Oficina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227064" y="305409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2C9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Consolidado por unidade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27064" y="332841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2C9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 por mecânico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27064" y="360273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2C9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e integrações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48640" y="464515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dias grátis, sem cartão.  ·  Migração da planilha feita por nós.  ·  Cancelamento a qualquer momento.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47091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863840" y="4709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NEGÓCIO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9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SaaS de ticket baixo, retenção de ERP.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81328"/>
          <a:ext cx="4937760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669280" y="1536192"/>
            <a:ext cx="2926080" cy="621792"/>
          </a:xfrm>
          <a:prstGeom prst="roundRect">
            <a:avLst>
              <a:gd name="adj" fmla="val 10294"/>
            </a:avLst>
          </a:prstGeom>
          <a:solidFill>
            <a:srgbClr val="F1F3F5"/>
          </a:solidFill>
          <a:ln/>
        </p:spPr>
      </p:sp>
      <p:sp>
        <p:nvSpPr>
          <p:cNvPr id="6" name="Text 3"/>
          <p:cNvSpPr/>
          <p:nvPr/>
        </p:nvSpPr>
        <p:spPr>
          <a:xfrm>
            <a:off x="5852160" y="1536192"/>
            <a:ext cx="1417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R$ 149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269480" y="1536192"/>
            <a:ext cx="11704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ARPU mensal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5669280" y="2267712"/>
            <a:ext cx="2926080" cy="621792"/>
          </a:xfrm>
          <a:prstGeom prst="roundRect">
            <a:avLst>
              <a:gd name="adj" fmla="val 10294"/>
            </a:avLst>
          </a:prstGeom>
          <a:solidFill>
            <a:srgbClr val="F1F3F5"/>
          </a:solidFill>
          <a:ln/>
        </p:spPr>
      </p:sp>
      <p:sp>
        <p:nvSpPr>
          <p:cNvPr id="9" name="Text 6"/>
          <p:cNvSpPr/>
          <p:nvPr/>
        </p:nvSpPr>
        <p:spPr>
          <a:xfrm>
            <a:off x="5852160" y="2267712"/>
            <a:ext cx="1417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R$ 380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269480" y="2267712"/>
            <a:ext cx="11704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estimado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669280" y="2999232"/>
            <a:ext cx="2926080" cy="621792"/>
          </a:xfrm>
          <a:prstGeom prst="roundRect">
            <a:avLst>
              <a:gd name="adj" fmla="val 10294"/>
            </a:avLst>
          </a:prstGeom>
          <a:solidFill>
            <a:srgbClr val="F1F3F5"/>
          </a:solidFill>
          <a:ln/>
        </p:spPr>
      </p:sp>
      <p:sp>
        <p:nvSpPr>
          <p:cNvPr id="12" name="Text 9"/>
          <p:cNvSpPr/>
          <p:nvPr/>
        </p:nvSpPr>
        <p:spPr>
          <a:xfrm>
            <a:off x="5852160" y="2999232"/>
            <a:ext cx="1417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7A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2,7 meses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269480" y="2999232"/>
            <a:ext cx="11704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do CAC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669280" y="3730752"/>
            <a:ext cx="2926080" cy="621792"/>
          </a:xfrm>
          <a:prstGeom prst="roundRect">
            <a:avLst>
              <a:gd name="adj" fmla="val 10294"/>
            </a:avLst>
          </a:prstGeom>
          <a:solidFill>
            <a:srgbClr val="F1F3F5"/>
          </a:solidFill>
          <a:ln/>
        </p:spPr>
      </p:sp>
      <p:sp>
        <p:nvSpPr>
          <p:cNvPr id="15" name="Text 12"/>
          <p:cNvSpPr/>
          <p:nvPr/>
        </p:nvSpPr>
        <p:spPr>
          <a:xfrm>
            <a:off x="5852160" y="3730752"/>
            <a:ext cx="1417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7A6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&lt; 1,8%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7269480" y="3730752"/>
            <a:ext cx="11704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mensal alvo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669280" y="4462272"/>
            <a:ext cx="2926080" cy="0"/>
          </a:xfrm>
          <a:prstGeom prst="roundRect">
            <a:avLst/>
          </a:prstGeom>
          <a:solidFill>
            <a:srgbClr val="FFFFFF"/>
          </a:solidFill>
          <a:ln/>
        </p:spPr>
      </p:sp>
      <p:sp>
        <p:nvSpPr>
          <p:cNvPr id="18" name="Text 15"/>
          <p:cNvSpPr/>
          <p:nvPr/>
        </p:nvSpPr>
        <p:spPr>
          <a:xfrm>
            <a:off x="548640" y="4443984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gruda: uma vez que a OS e o histórico do carro moram no Torque, sair custa mais que ficar.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48640" y="47091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7863840" y="4709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3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F265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9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Onde a oficina já está, o Torque chega junto.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393192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682496"/>
            <a:ext cx="457200" cy="457200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" y="1746504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70078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9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Distribuidor de peças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371600" y="20116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vendedor de autopeça visita 40 oficinas por semana. Ele é nosso canal — comissão recorrente por indicação ativa.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663440" y="1481328"/>
            <a:ext cx="393192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882896" y="1682496"/>
            <a:ext cx="457200" cy="457200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6904" y="1746504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0" y="170078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9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Sindirepa e regionais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5486400" y="20116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 mil oficinas associadas. Acordo institucional dá selo, lista e palco em feira.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548640" y="2962656"/>
            <a:ext cx="393192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68096" y="3163824"/>
            <a:ext cx="457200" cy="457200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" y="3227832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71600" y="318211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9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Conteúdo técnico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1371600" y="3493008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 e Instagram de reparação: o mecânico aprende diagnóstico e conhece a marca no mesmo vídeo.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4663440" y="2962656"/>
            <a:ext cx="393192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882896" y="3163824"/>
            <a:ext cx="457200" cy="457200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6904" y="3227832"/>
            <a:ext cx="329184" cy="32918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486400" y="318211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91D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Contador da oficina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5486400" y="3493008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sofre com o bloquinho de nota é o contador. Ele empurra o sistema por conta própria.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548640" y="4498848"/>
            <a:ext cx="8046720" cy="457200"/>
          </a:xfrm>
          <a:prstGeom prst="roundRect">
            <a:avLst>
              <a:gd name="adj" fmla="val 14000"/>
            </a:avLst>
          </a:prstGeom>
          <a:solidFill>
            <a:srgbClr val="16191D"/>
          </a:solidFill>
          <a:ln/>
        </p:spPr>
      </p:sp>
      <p:sp>
        <p:nvSpPr>
          <p:cNvPr id="25" name="Text 19"/>
          <p:cNvSpPr/>
          <p:nvPr/>
        </p:nvSpPr>
        <p:spPr>
          <a:xfrm>
            <a:off x="822960" y="4498848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ano 1: 3 distribuidores parceiros, 1 acordo Sindirepa regional, 420 oficinas pagantes.</a:t>
            </a:r>
            <a:endParaRPr lang="en-US" sz="1050" dirty="0"/>
          </a:p>
        </p:txBody>
      </p:sp>
      <p:sp>
        <p:nvSpPr>
          <p:cNvPr id="26" name="Text 20"/>
          <p:cNvSpPr/>
          <p:nvPr/>
        </p:nvSpPr>
        <p:spPr>
          <a:xfrm>
            <a:off x="548640" y="47091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7863840" y="4709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2377440"/>
            <a:ext cx="4937760" cy="4937760"/>
          </a:xfrm>
          <a:prstGeom prst="ellipse">
            <a:avLst/>
          </a:prstGeom>
          <a:solidFill>
            <a:srgbClr val="F26522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-1097280"/>
            <a:ext cx="3840480" cy="3840480"/>
          </a:xfrm>
          <a:prstGeom prst="ellipse">
            <a:avLst/>
          </a:prstGeom>
          <a:solidFill>
            <a:srgbClr val="F26522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566928"/>
            <a:ext cx="548640" cy="548640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3738" y="643738"/>
            <a:ext cx="395021" cy="39502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585216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0" kern="0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TORQUE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548640" y="1691640"/>
            <a:ext cx="6766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Coloque uma oficina</a:t>
            </a:r>
            <a:endParaRPr lang="en-US" sz="38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no Torque esta semana.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548640" y="320040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B9C1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Escolhemos 20 oficinas para o piloto: implantação assistida, migração da planilha por nossa conta e três meses sem cobrar. Em troca, queremos o número real da sua margem antes e depois.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4224528"/>
            <a:ext cx="2331720" cy="512064"/>
          </a:xfrm>
          <a:prstGeom prst="roundRect">
            <a:avLst>
              <a:gd name="adj" fmla="val 50000"/>
            </a:avLst>
          </a:prstGeom>
          <a:solidFill>
            <a:srgbClr val="F26522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4224528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Quero o piloto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3108960" y="4224528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torque.com.br  ·  contato@torque.com.br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Torque — ERP para oficinas independentes</dc:title>
  <dc:subject>PptxGenJS Presentation</dc:subject>
  <dc:creator>Torque</dc:creator>
  <cp:lastModifiedBy>Torque</cp:lastModifiedBy>
  <cp:revision>1</cp:revision>
  <dcterms:created xsi:type="dcterms:W3CDTF">2026-07-10T12:49:42Z</dcterms:created>
  <dcterms:modified xsi:type="dcterms:W3CDTF">2026-07-10T12:49:42Z</dcterms:modified>
</cp:coreProperties>
</file>