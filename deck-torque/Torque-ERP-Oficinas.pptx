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 do Torque</c:v>
                </c:pt>
              </c:strCache>
            </c:strRef>
          </c:tx>
          <c:spPr>
            <a:solidFill>
              <a:srgbClr val="C9D0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Faturamento
mensal</c:v>
                  </c:pt>
                  <c:pt idx="1">
                    <c:v>Peça comprada
em duplicidade</c:v>
                  </c:pt>
                  <c:pt idx="2">
                    <c:v>Retorno do
cliente (%)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Depois (6 meses)</c:v>
                </c:pt>
              </c:strCache>
            </c:strRef>
          </c:tx>
          <c:spPr>
            <a:solidFill>
              <a:srgbClr val="F265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Faturamento
mensal</c:v>
                  </c:pt>
                  <c:pt idx="1">
                    <c:v>Peça comprada
em duplicidade</c:v>
                  </c:pt>
                  <c:pt idx="2">
                    <c:v>Retorno do
cliente (%)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22</c:v>
                </c:pt>
                <c:pt idx="2">
                  <c:v>174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</c:scaling>
        <c:delete val="0"/>
        <c:axPos val="l"/>
        <c:majorGridlines>
          <c:spPr>
            <a:ln w="6350" cap="flat">
              <a:solidFill>
                <a:srgbClr val="E7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7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91D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6191D"/>
                </a:solidFill>
                <a:latin typeface="Calibri"/>
              </a:rPr>
              <a:t>Base de clientes (projeção)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Oficinas pagantes</c:v>
                </c:pt>
              </c:strCache>
            </c:strRef>
          </c:tx>
          <c:spPr>
            <a:solidFill>
              <a:srgbClr val="F26522"/>
            </a:solidFill>
            <a:ln w="44450" cap="flat">
              <a:solidFill>
                <a:srgbClr val="F265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191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6522"/>
              </a:solidFill>
              <a:ln w="9525" cap="flat">
                <a:solidFill>
                  <a:srgbClr val="F265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1500</c:v>
                </c:pt>
                <c:pt idx="2">
                  <c:v>4200</c:v>
                </c:pt>
                <c:pt idx="3">
                  <c:v>8600</c:v>
                </c:pt>
                <c:pt idx="4">
                  <c:v>15000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191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frase: 'hoje, 8 em cada 10 oficinas pequenas rodam num caderno'. Torque é o ERP feito para quem tem graxa na mão, não para o contador.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falta de trabalho: é falta de visibilidade. A dor é margem, não faturamento.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Fontes: Sindirepa Brasil (Anuário 2025/26), Sindipeças Frota Circulante 2025, McKinsey via Peçamentor.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 OS real. O 'aha' é o aceite do orçamento com carimbo de hora — acaba a discussão no balcão.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Concorrentes citados: Oficina Integrada (R$99–299), Oficina Inteligente (R$289–499), Ultracar, WSoft (R$79,90). Nosso ângulo não é preço — é adoção.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o compromisso menor possível: uma oficina, uma semana. Não peça contrato — peça 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754880" cy="4754880"/>
          </a:xfrm>
          <a:prstGeom prst="ellipse">
            <a:avLst/>
          </a:prstGeom>
          <a:solidFill>
            <a:srgbClr val="F2652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108960"/>
            <a:ext cx="3108960" cy="3108960"/>
          </a:xfrm>
          <a:prstGeom prst="ellipse">
            <a:avLst/>
          </a:prstGeom>
          <a:solidFill>
            <a:srgbClr val="F2652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85800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8" y="765170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713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TORQUE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ERP que roda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 graxa.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9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para a oficina independente: ordem de serviço, peças, caixa e cliente — em um só lugar, no celular do mecânico.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oficina fatura bem. E não sabe quanto sobra.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dono é o melhor mecânico da casa — e também o orçamentista, o comprador de peças, o cobrador e o financeiro. A informação mora em quatro lugares e nenhum conversa com o outro.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0" y="124358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50992" y="138988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4759" y="1443655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44768" y="13533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 e planilha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44768" y="15819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anotada à mão, status na cabeça do mecânico, valor somado na calculadora.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0" y="206654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50992" y="221284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759" y="2266615"/>
            <a:ext cx="276515" cy="2765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44768" y="21762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perdido no WhatsApp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144768" y="2404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verbal, sem registro. Depois vira discussão no balcão.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486400" y="288950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50992" y="303580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759" y="3089575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29992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some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44768" y="3227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estoque real, compra-se duas vezes ou o carro fica parado na baia.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86400" y="371246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650992" y="385876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759" y="3912535"/>
            <a:ext cx="276515" cy="2765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44768" y="38221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a margem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144768" y="40507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R$ 80 mil, tira R$ 4 mil. Ninguém sabe qual serviço dá prejuízo.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48640" y="2578608"/>
            <a:ext cx="4709160" cy="1481328"/>
          </a:xfrm>
          <a:prstGeom prst="roundRect">
            <a:avLst>
              <a:gd name="adj" fmla="val 6173"/>
            </a:avLst>
          </a:prstGeom>
          <a:solidFill>
            <a:srgbClr val="16191D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27614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4h</a:t>
            </a:r>
            <a:endParaRPr lang="en-US" sz="5200" dirty="0"/>
          </a:p>
        </p:txBody>
      </p:sp>
      <p:sp>
        <p:nvSpPr>
          <p:cNvPr id="27" name="Text 21"/>
          <p:cNvSpPr/>
          <p:nvPr/>
        </p:nvSpPr>
        <p:spPr>
          <a:xfrm>
            <a:off x="2286000" y="2788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 consolidando número em planilha — o limite a partir do qual um sistema dedicado se paga em até 90 dias.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160 mil oficinas. Uma frota que só envelhece.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901952" cy="1691640"/>
          </a:xfrm>
          <a:prstGeom prst="roundRect">
            <a:avLst>
              <a:gd name="adj" fmla="val 43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27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160 mil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independentes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65176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vinculadas às regionais do Sindirepa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15184" y="1481328"/>
            <a:ext cx="1901952" cy="1691640"/>
          </a:xfrm>
          <a:prstGeom prst="roundRect">
            <a:avLst>
              <a:gd name="adj" fmla="val 43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9776" y="1627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48,1 mi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779776" y="22128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autoveículos circulando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9776" y="265176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mi só de carros leves (Sindipeças)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81728" y="1481328"/>
            <a:ext cx="1901952" cy="1691640"/>
          </a:xfrm>
          <a:prstGeom prst="roundRect">
            <a:avLst>
              <a:gd name="adj" fmla="val 43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627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10a 11m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846320" y="22128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da frota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velho = manutenção recorrente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48272" y="1481328"/>
            <a:ext cx="1901952" cy="1691640"/>
          </a:xfrm>
          <a:prstGeom prst="roundRect">
            <a:avLst>
              <a:gd name="adj" fmla="val 43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2864" y="1627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R$ 43 bi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912864" y="22128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 / ano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12864" y="265176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dobrar até 2040 (McKinsey)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401568"/>
            <a:ext cx="8046720" cy="1078992"/>
          </a:xfrm>
          <a:prstGeom prst="roundRect">
            <a:avLst>
              <a:gd name="adj" fmla="val 6780"/>
            </a:avLst>
          </a:prstGeom>
          <a:solidFill>
            <a:srgbClr val="FDEDE2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749040"/>
            <a:ext cx="402336" cy="40233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567" y="3805367"/>
            <a:ext cx="289682" cy="28968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98448" y="3566160"/>
            <a:ext cx="7086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endereçável.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160 mil oficinas pagassem R$ 149/mês, o TAM brasileiro é de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R$ 286 milhões por ano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Capturar 1% em 3 anos = R$ 2,9 mi de ARR — com ticket que cabe no bolso do reparador.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janela abriu — e fecha rápido.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560320" cy="2487168"/>
          </a:xfrm>
          <a:prstGeom prst="roundRect">
            <a:avLst>
              <a:gd name="adj" fmla="val 3676"/>
            </a:avLst>
          </a:prstGeom>
          <a:solidFill>
            <a:srgbClr val="242A3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83080"/>
            <a:ext cx="512064" cy="51206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61" y="1854769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Frota envelhecendo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798064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11 anos de idade média. Cada ano a mais é uma revisão a mais na baia do independente — o volume vem, o controle não.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536192"/>
            <a:ext cx="2560320" cy="2487168"/>
          </a:xfrm>
          <a:prstGeom prst="roundRect">
            <a:avLst>
              <a:gd name="adj" fmla="val 3676"/>
            </a:avLst>
          </a:prstGeom>
          <a:solidFill>
            <a:srgbClr val="242A31"/>
          </a:solidFill>
          <a:ln/>
        </p:spPr>
      </p:sp>
      <p:sp>
        <p:nvSpPr>
          <p:cNvPr id="10" name="Shape 7"/>
          <p:cNvSpPr/>
          <p:nvPr/>
        </p:nvSpPr>
        <p:spPr>
          <a:xfrm>
            <a:off x="3529584" y="1783080"/>
            <a:ext cx="512064" cy="51206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273" y="1854769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Fisco digital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9584" y="2798064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NFS-e nacional, NFC-e, split de pagamento. Quem emite nota no bloquinho vai ser empurrado para o software, queira ou não.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98464" y="1536192"/>
            <a:ext cx="2560320" cy="2487168"/>
          </a:xfrm>
          <a:prstGeom prst="roundRect">
            <a:avLst>
              <a:gd name="adj" fmla="val 3676"/>
            </a:avLst>
          </a:prstGeom>
          <a:solidFill>
            <a:srgbClr val="242A3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54496" y="1783080"/>
            <a:ext cx="512064" cy="51206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185" y="1854769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Mecânico já é digital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54496" y="2798064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B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Pix, WhatsApp Business e Google Maps já entraram na oficina. A resistência não é ao celular — é a sistemas feitos para escritório.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sistemas existentes foram desenhados para a oficina de 12 baias. Ninguém desenhou para a de duas.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Torque: a oficina inteira em uma tela.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ERP enxuto, mobile-first, que o mecânico usa com a mão suja e o dono acompanha do sofá. Cadastra a placa, fotografa o problema, manda o orçamento no WhatsApp, recebe o aceite com um clique — e o estoque, o caixa e a nota se resolvem sozinhos.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3522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digitação: placa puxa marca, modelo e ano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319272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de orçamento registrada, com hora e IP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0332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 — sincroniza quando a internet volta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87368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4059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em 1 dia, sem consultor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892040" y="1298448"/>
            <a:ext cx="3703320" cy="3200400"/>
          </a:xfrm>
          <a:prstGeom prst="roundRect">
            <a:avLst>
              <a:gd name="adj" fmla="val 3429"/>
            </a:avLst>
          </a:prstGeom>
          <a:solidFill>
            <a:srgbClr val="16191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512064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#1042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059168" y="1490472"/>
            <a:ext cx="1298448" cy="265176"/>
          </a:xfrm>
          <a:prstGeom prst="roundRect">
            <a:avLst>
              <a:gd name="adj" fmla="val 48276"/>
            </a:avLst>
          </a:prstGeom>
          <a:solidFill>
            <a:srgbClr val="F26522"/>
          </a:solidFill>
          <a:ln/>
        </p:spPr>
      </p:sp>
      <p:sp>
        <p:nvSpPr>
          <p:cNvPr id="16" name="Text 10"/>
          <p:cNvSpPr/>
          <p:nvPr/>
        </p:nvSpPr>
        <p:spPr>
          <a:xfrm>
            <a:off x="7059168" y="1490472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120640" y="18105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RQP-4C18  ·  Gol 1.6  ·  2014  ·  128.400 km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120640" y="2240280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242A31"/>
          </a:solidFill>
          <a:ln/>
        </p:spPr>
      </p:sp>
      <p:sp>
        <p:nvSpPr>
          <p:cNvPr id="19" name="Text 13"/>
          <p:cNvSpPr/>
          <p:nvPr/>
        </p:nvSpPr>
        <p:spPr>
          <a:xfrm>
            <a:off x="5257800" y="2240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Pastilha de freio diant. (par)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731520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R$ 189,00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120640" y="2715768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242A31"/>
          </a:solidFill>
          <a:ln/>
        </p:spPr>
      </p:sp>
      <p:sp>
        <p:nvSpPr>
          <p:cNvPr id="22" name="Text 16"/>
          <p:cNvSpPr/>
          <p:nvPr/>
        </p:nvSpPr>
        <p:spPr>
          <a:xfrm>
            <a:off x="5257800" y="2715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ventilado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315200" y="2715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R$ 320,00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120640" y="3191256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242A31"/>
          </a:solidFill>
          <a:ln/>
        </p:spPr>
      </p:sp>
      <p:sp>
        <p:nvSpPr>
          <p:cNvPr id="25" name="Text 19"/>
          <p:cNvSpPr/>
          <p:nvPr/>
        </p:nvSpPr>
        <p:spPr>
          <a:xfrm>
            <a:off x="5257800" y="31912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— 1,5 h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315200" y="3191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R$ 225,00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120640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6751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R$ 734,00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5120640" y="4096512"/>
            <a:ext cx="3246120" cy="292608"/>
          </a:xfrm>
          <a:prstGeom prst="roundRect">
            <a:avLst>
              <a:gd name="adj" fmla="val 18750"/>
            </a:avLst>
          </a:prstGeom>
          <a:solidFill>
            <a:srgbClr val="1F7A6B"/>
          </a:solidFill>
          <a:ln/>
        </p:spPr>
      </p:sp>
      <p:sp>
        <p:nvSpPr>
          <p:cNvPr id="30" name="Text 24"/>
          <p:cNvSpPr/>
          <p:nvPr/>
        </p:nvSpPr>
        <p:spPr>
          <a:xfrm>
            <a:off x="5120640" y="40965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pelo cliente no WhatsApp · 14:32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portão ao Pix, em cinco toques.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94944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Entrada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4944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 a placa. Ficha do veículo e histórico aparecem prontos.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12264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85416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31720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8013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4096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331720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Diagnóstico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331720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vídeo do defeito anexados à OS. Checklist de 12 itens.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749040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22192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68496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18013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90872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3968496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Orçamento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968496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e aprovado pelo WhatsApp, com registro legal do aceite.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385816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58968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605272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80136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27648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5605272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Execução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605272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baixa do estoque. Mecânico aponta hora trabalhada.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022592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095744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242048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1801368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964424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7242048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242048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emitida, Pix na hora, retorno agendado em 6 meses.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548640" y="404164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39" name="Text 32"/>
          <p:cNvSpPr/>
          <p:nvPr/>
        </p:nvSpPr>
        <p:spPr>
          <a:xfrm>
            <a:off x="822960" y="40416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passo exige sair da tela da OS. </a:t>
            </a:r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Estoque, financeiro e CRM são consequência do trabalho, não trabalho a mais.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Seis módulos. Um preço.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631655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91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Ordem de serviço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084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digital com foto, checklist, garantia de peça e histórico por placa.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572768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895" y="163165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591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Estoque de peças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93008" y="2084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automática, estoque mínimo, cotação com três fornecedores.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1572768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095" y="163165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591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Financeiro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36208" y="2084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Caixa, contas a pagar/receber, margem por serviço e por mecânico.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2889504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090672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" y="314955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Fiscal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360273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NFS-e, NFC-e e conciliação de maquininha sem contador no meio.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91840" y="2889504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3090672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895" y="3149559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CRM &amp; retorno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93008" y="360273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de revisão, troca de óleo e aniversário do carro.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35040" y="2889504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3090672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095" y="3149559"/>
            <a:ext cx="302849" cy="3028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Painel do dono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36208" y="360273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carros na baia, quanto entrou hoje, o que está travado.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43708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venda casada de módulo. Sem taxa de implantação. Sem fidelidade.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o sistema anterior foi abandonado.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concorrente não é outro ERP. É o caderno — porque o software que a oficina tentou usar era pesado demais para o dia a dia dela.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1F3F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59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ERP tradicional de oficina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9736"/>
            <a:ext cx="173736" cy="173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4323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para desktop no escritório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25496"/>
            <a:ext cx="173736" cy="173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de semanas, com consultor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9125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3163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vendidos separados, R$ 289–499/mês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57016"/>
            <a:ext cx="173736" cy="1737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35295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longo — o mecânico desiste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22776"/>
            <a:ext cx="173736" cy="1737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3895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sem internet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663440" y="182880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16191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4919472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Torque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59736"/>
            <a:ext cx="173736" cy="1737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30368" y="24323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— nasce no celular da baia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825496"/>
            <a:ext cx="173736" cy="17373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30368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 no primeiro dia, sozinho</a:t>
            </a:r>
            <a:endParaRPr lang="en-US" sz="10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191256"/>
            <a:ext cx="173736" cy="17373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30368" y="3163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incluso por R$ 149/mês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557016"/>
            <a:ext cx="173736" cy="17373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30368" y="35295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treinamento: 6 telas no total</a:t>
            </a:r>
            <a:endParaRPr lang="en-US" sz="10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922776"/>
            <a:ext cx="173736" cy="17373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30368" y="3895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sincroniza depois</a:t>
            </a:r>
            <a:endParaRPr lang="en-US" sz="1050" dirty="0"/>
          </a:p>
        </p:txBody>
      </p:sp>
      <p:sp>
        <p:nvSpPr>
          <p:cNvPr id="29" name="Text 17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muda numa oficina de duas baias.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8920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Índice, base 100 = melhor cenário. Projeção com base em benchmarks do setor.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623560" y="1517904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FDEDE2"/>
          </a:solidFill>
          <a:ln/>
        </p:spPr>
      </p:sp>
      <p:sp>
        <p:nvSpPr>
          <p:cNvPr id="7" name="Text 4"/>
          <p:cNvSpPr/>
          <p:nvPr/>
        </p:nvSpPr>
        <p:spPr>
          <a:xfrm>
            <a:off x="5806440" y="160934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+38%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784848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faturamento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06440" y="20208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cliente novo: só cobrando a mão de obra que já era feita de graça.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23560" y="256032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FDEDE2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26517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-78%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784848" y="2670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peça duplicada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0644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real acaba com a compra por desencargo de consciência.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23560" y="3602736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FDEDE2"/>
          </a:solidFill>
          <a:ln/>
        </p:spPr>
      </p:sp>
      <p:sp>
        <p:nvSpPr>
          <p:cNvPr id="15" name="Text 12"/>
          <p:cNvSpPr/>
          <p:nvPr/>
        </p:nvSpPr>
        <p:spPr>
          <a:xfrm>
            <a:off x="5806440" y="369417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dias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784848" y="37124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payback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06440" y="4105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custa menos que uma troca de embreagem por mês.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Preço de oficina, não de software.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08176"/>
            <a:ext cx="2560320" cy="2779776"/>
          </a:xfrm>
          <a:prstGeom prst="roundRect">
            <a:avLst>
              <a:gd name="adj" fmla="val 4286"/>
            </a:avLst>
          </a:prstGeom>
          <a:solidFill>
            <a:srgbClr val="242A31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R$ 79</a:t>
            </a:r>
            <a:pPr indent="0" marL="0">
              <a:buNone/>
            </a:pPr>
            <a:r>
              <a:rPr lang="en-US" sz="10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2368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e oficina solo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usuário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9809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ilimitada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255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 caixa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no WhatsApp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1298448"/>
            <a:ext cx="2560320" cy="2999232"/>
          </a:xfrm>
          <a:prstGeom prst="roundRect">
            <a:avLst>
              <a:gd name="adj" fmla="val 428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481328"/>
            <a:ext cx="10058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VENDIDO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Oficina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1801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R$ 149</a:t>
            </a:r>
            <a:pPr indent="0" marL="0">
              <a:buNone/>
            </a:pPr>
            <a:r>
              <a:rPr lang="en-US" sz="1050" dirty="0">
                <a:solidFill>
                  <a:srgbClr val="F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02152" y="22585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6 mecânicos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02152" y="2596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ilimitados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02152" y="28712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Baia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02152" y="3145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(NFS-e/NFC-e)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02152" y="3419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 retorno automático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02152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dono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98464" y="1408176"/>
            <a:ext cx="2560320" cy="2779776"/>
          </a:xfrm>
          <a:prstGeom prst="roundRect">
            <a:avLst>
              <a:gd name="adj" fmla="val 4286"/>
            </a:avLst>
          </a:prstGeom>
          <a:solidFill>
            <a:srgbClr val="242A31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2706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27064" y="1911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R$ 349</a:t>
            </a:r>
            <a:pPr indent="0" marL="0">
              <a:buNone/>
            </a:pPr>
            <a:r>
              <a:rPr lang="en-US" sz="10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227064" y="2368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unidades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7064" y="2706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Oficina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7064" y="29809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por unidade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3255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por mecânico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27064" y="35295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 integrações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4074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dias grátis, sem cartão.  ·  Migração da planilha feita por nós.  ·  Cancelamento a qualquer momento.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NEGÓCIO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SaaS de ticket baixo, retenção de ERP.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81328"/>
          <a:ext cx="49377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536192"/>
            <a:ext cx="2926080" cy="621792"/>
          </a:xfrm>
          <a:prstGeom prst="roundRect">
            <a:avLst>
              <a:gd name="adj" fmla="val 10294"/>
            </a:avLst>
          </a:prstGeom>
          <a:solidFill>
            <a:srgbClr val="F1F3F5"/>
          </a:solidFill>
          <a:ln/>
        </p:spPr>
      </p:sp>
      <p:sp>
        <p:nvSpPr>
          <p:cNvPr id="6" name="Text 3"/>
          <p:cNvSpPr/>
          <p:nvPr/>
        </p:nvSpPr>
        <p:spPr>
          <a:xfrm>
            <a:off x="5852160" y="15361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R$ 149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69480" y="1536192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mensal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0" y="2267712"/>
            <a:ext cx="2926080" cy="621792"/>
          </a:xfrm>
          <a:prstGeom prst="roundRect">
            <a:avLst>
              <a:gd name="adj" fmla="val 10294"/>
            </a:avLst>
          </a:prstGeom>
          <a:solidFill>
            <a:srgbClr val="F1F3F5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226771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R$ 380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69480" y="2267712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estimado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999232"/>
            <a:ext cx="2926080" cy="621792"/>
          </a:xfrm>
          <a:prstGeom prst="roundRect">
            <a:avLst>
              <a:gd name="adj" fmla="val 10294"/>
            </a:avLst>
          </a:prstGeom>
          <a:solidFill>
            <a:srgbClr val="F1F3F5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299923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2,7 meses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9480" y="2999232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do CAC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3730752"/>
            <a:ext cx="2926080" cy="621792"/>
          </a:xfrm>
          <a:prstGeom prst="roundRect">
            <a:avLst>
              <a:gd name="adj" fmla="val 10294"/>
            </a:avLst>
          </a:prstGeom>
          <a:solidFill>
            <a:srgbClr val="F1F3F5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373075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 1,8%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9480" y="3730752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mensal alvo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4370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gruda: uma vez que a OS e o histórico do carro moram no Torque, sair custa mais que ficar.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Onde a oficina já está, o Torque chega junto.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08176"/>
            <a:ext cx="3931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09344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733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Distribuidor de peças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1938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vendedor de autopeça visita 40 oficinas por semana. Ele é nosso canal — comissão recorrente por indicação ativa.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408176"/>
            <a:ext cx="3931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1609344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6733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Sindirepa e regionais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0" y="1938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mil oficinas associadas. Acordo institucional dá selo, lista e palco em feira.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3931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" y="3035808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09981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Conteúdo técnico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71600" y="33649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e Instagram de reparação: o mecânico aprende diagnóstico e conhece a marca no mesmo vídeo.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3931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3035808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09981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Contador da oficina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0" y="33649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sofre com o bloquinho de nota é o contador. Ele empurra o sistema por conta própria.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224528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16191D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2245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ano 1: 3 distribuidores parceiros, 1 acordo Sindirepa regional, 420 oficinas pagantes.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4937760" cy="4937760"/>
          </a:xfrm>
          <a:prstGeom prst="ellipse">
            <a:avLst/>
          </a:prstGeom>
          <a:solidFill>
            <a:srgbClr val="F2652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-1097280"/>
            <a:ext cx="3840480" cy="3840480"/>
          </a:xfrm>
          <a:prstGeom prst="ellipse">
            <a:avLst/>
          </a:prstGeom>
          <a:solidFill>
            <a:srgbClr val="F2652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85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TORQUE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Coloque uma oficina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Torque esta semana.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Escolhemos 20 oficinas para o piloto: implantação assistida, migração da planilha por nossa conta e três meses sem cobrar. Em troca, queremos o número real da sua margem antes e depois.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224528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22452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o piloto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08960" y="422452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torque.com.br  ·  contato@torque.com.br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Torque — ERP para oficinas independentes</dc:title>
  <dc:subject>PptxGenJS Presentation</dc:subject>
  <dc:creator>Torque</dc:creator>
  <cp:lastModifiedBy>Torque</cp:lastModifiedBy>
  <cp:revision>1</cp:revision>
  <dcterms:created xsi:type="dcterms:W3CDTF">2026-07-10T12:52:02Z</dcterms:created>
  <dcterms:modified xsi:type="dcterms:W3CDTF">2026-07-10T12:52:02Z</dcterms:modified>
</cp:coreProperties>
</file>